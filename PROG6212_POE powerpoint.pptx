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530" r:id="rId5"/>
    <p:sldId id="531" r:id="rId6"/>
    <p:sldId id="533" r:id="rId7"/>
    <p:sldId id="534" r:id="rId8"/>
    <p:sldId id="547" r:id="rId9"/>
    <p:sldId id="548" r:id="rId10"/>
    <p:sldId id="537" r:id="rId11"/>
    <p:sldId id="549" r:id="rId12"/>
    <p:sldId id="550" r:id="rId13"/>
    <p:sldId id="546" r:id="rId14"/>
    <p:sldId id="551" r:id="rId15"/>
    <p:sldId id="552" r:id="rId16"/>
    <p:sldId id="553" r:id="rId17"/>
    <p:sldId id="554" r:id="rId18"/>
    <p:sldId id="55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5A325F4-8ADB-428C-9810-7325BCA92245}">
          <p14:sldIdLst>
            <p14:sldId id="530"/>
            <p14:sldId id="531"/>
            <p14:sldId id="533"/>
          </p14:sldIdLst>
        </p14:section>
        <p14:section name="Untitled Section" id="{CC1D8B18-F57A-4821-95B2-B0B3FA169EC4}">
          <p14:sldIdLst>
            <p14:sldId id="534"/>
            <p14:sldId id="547"/>
            <p14:sldId id="548"/>
            <p14:sldId id="537"/>
            <p14:sldId id="549"/>
            <p14:sldId id="550"/>
            <p14:sldId id="546"/>
            <p14:sldId id="551"/>
            <p14:sldId id="552"/>
            <p14:sldId id="553"/>
            <p14:sldId id="554"/>
            <p14:sldId id="55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C2E10E-3CA2-4004-AFCE-E8F2D286A3F8}" v="13" dt="2025-11-22T03:49:52.4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422"/>
  </p:normalViewPr>
  <p:slideViewPr>
    <p:cSldViewPr snapToGrid="0">
      <p:cViewPr varScale="1">
        <p:scale>
          <a:sx n="65" d="100"/>
          <a:sy n="65" d="100"/>
        </p:scale>
        <p:origin x="9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an Sibley" userId="8131f4c15433593a" providerId="LiveId" clId="{36D6E722-2D7C-41B4-9886-7C236E0B2F62}"/>
    <pc:docChg chg="undo custSel addSld delSld modSld modSection">
      <pc:chgData name="Dean Sibley" userId="8131f4c15433593a" providerId="LiveId" clId="{36D6E722-2D7C-41B4-9886-7C236E0B2F62}" dt="2025-11-22T03:50:44.149" v="277" actId="2696"/>
      <pc:docMkLst>
        <pc:docMk/>
      </pc:docMkLst>
      <pc:sldChg chg="del">
        <pc:chgData name="Dean Sibley" userId="8131f4c15433593a" providerId="LiveId" clId="{36D6E722-2D7C-41B4-9886-7C236E0B2F62}" dt="2025-11-22T03:50:40.463" v="276" actId="2696"/>
        <pc:sldMkLst>
          <pc:docMk/>
          <pc:sldMk cId="765210901" sldId="538"/>
        </pc:sldMkLst>
      </pc:sldChg>
      <pc:sldChg chg="del">
        <pc:chgData name="Dean Sibley" userId="8131f4c15433593a" providerId="LiveId" clId="{36D6E722-2D7C-41B4-9886-7C236E0B2F62}" dt="2025-11-22T03:50:35.949" v="275" actId="2696"/>
        <pc:sldMkLst>
          <pc:docMk/>
          <pc:sldMk cId="1877080978" sldId="539"/>
        </pc:sldMkLst>
      </pc:sldChg>
      <pc:sldChg chg="del">
        <pc:chgData name="Dean Sibley" userId="8131f4c15433593a" providerId="LiveId" clId="{36D6E722-2D7C-41B4-9886-7C236E0B2F62}" dt="2025-11-22T03:50:32.980" v="274" actId="2696"/>
        <pc:sldMkLst>
          <pc:docMk/>
          <pc:sldMk cId="1579562137" sldId="540"/>
        </pc:sldMkLst>
      </pc:sldChg>
      <pc:sldChg chg="del">
        <pc:chgData name="Dean Sibley" userId="8131f4c15433593a" providerId="LiveId" clId="{36D6E722-2D7C-41B4-9886-7C236E0B2F62}" dt="2025-11-22T03:50:29.868" v="273" actId="2696"/>
        <pc:sldMkLst>
          <pc:docMk/>
          <pc:sldMk cId="840605972" sldId="541"/>
        </pc:sldMkLst>
      </pc:sldChg>
      <pc:sldChg chg="del">
        <pc:chgData name="Dean Sibley" userId="8131f4c15433593a" providerId="LiveId" clId="{36D6E722-2D7C-41B4-9886-7C236E0B2F62}" dt="2025-11-22T03:50:25.929" v="272" actId="2696"/>
        <pc:sldMkLst>
          <pc:docMk/>
          <pc:sldMk cId="1958759625" sldId="543"/>
        </pc:sldMkLst>
      </pc:sldChg>
      <pc:sldChg chg="del">
        <pc:chgData name="Dean Sibley" userId="8131f4c15433593a" providerId="LiveId" clId="{36D6E722-2D7C-41B4-9886-7C236E0B2F62}" dt="2025-11-22T03:50:22.399" v="271" actId="2696"/>
        <pc:sldMkLst>
          <pc:docMk/>
          <pc:sldMk cId="1877701230" sldId="544"/>
        </pc:sldMkLst>
      </pc:sldChg>
      <pc:sldChg chg="del">
        <pc:chgData name="Dean Sibley" userId="8131f4c15433593a" providerId="LiveId" clId="{36D6E722-2D7C-41B4-9886-7C236E0B2F62}" dt="2025-11-22T03:50:44.149" v="277" actId="2696"/>
        <pc:sldMkLst>
          <pc:docMk/>
          <pc:sldMk cId="3510130985" sldId="545"/>
        </pc:sldMkLst>
      </pc:sldChg>
      <pc:sldChg chg="addSp modSp new mod chgLayout">
        <pc:chgData name="Dean Sibley" userId="8131f4c15433593a" providerId="LiveId" clId="{36D6E722-2D7C-41B4-9886-7C236E0B2F62}" dt="2025-11-22T03:41:14.205" v="208" actId="700"/>
        <pc:sldMkLst>
          <pc:docMk/>
          <pc:sldMk cId="4154325340" sldId="553"/>
        </pc:sldMkLst>
        <pc:spChg chg="mod ord">
          <ac:chgData name="Dean Sibley" userId="8131f4c15433593a" providerId="LiveId" clId="{36D6E722-2D7C-41B4-9886-7C236E0B2F62}" dt="2025-11-22T03:41:14.205" v="208" actId="700"/>
          <ac:spMkLst>
            <pc:docMk/>
            <pc:sldMk cId="4154325340" sldId="553"/>
            <ac:spMk id="2" creationId="{53192BE2-DF00-7046-07B5-0E8DD0C2AD08}"/>
          </ac:spMkLst>
        </pc:spChg>
        <pc:spChg chg="mod ord">
          <ac:chgData name="Dean Sibley" userId="8131f4c15433593a" providerId="LiveId" clId="{36D6E722-2D7C-41B4-9886-7C236E0B2F62}" dt="2025-11-22T03:41:14.205" v="208" actId="700"/>
          <ac:spMkLst>
            <pc:docMk/>
            <pc:sldMk cId="4154325340" sldId="553"/>
            <ac:spMk id="3" creationId="{3EA11365-5E4E-4FE3-6397-0E29C66C7D23}"/>
          </ac:spMkLst>
        </pc:spChg>
        <pc:picChg chg="add mod">
          <ac:chgData name="Dean Sibley" userId="8131f4c15433593a" providerId="LiveId" clId="{36D6E722-2D7C-41B4-9886-7C236E0B2F62}" dt="2025-11-21T10:06:57.081" v="7" actId="1076"/>
          <ac:picMkLst>
            <pc:docMk/>
            <pc:sldMk cId="4154325340" sldId="553"/>
            <ac:picMk id="5" creationId="{DF1B0DB5-FC38-897B-0E67-FF9778D6E45C}"/>
          </ac:picMkLst>
        </pc:picChg>
        <pc:picChg chg="add mod">
          <ac:chgData name="Dean Sibley" userId="8131f4c15433593a" providerId="LiveId" clId="{36D6E722-2D7C-41B4-9886-7C236E0B2F62}" dt="2025-11-21T10:07:32.118" v="10" actId="1076"/>
          <ac:picMkLst>
            <pc:docMk/>
            <pc:sldMk cId="4154325340" sldId="553"/>
            <ac:picMk id="7" creationId="{DC561F9B-7717-80CA-DDF4-528557736D72}"/>
          </ac:picMkLst>
        </pc:picChg>
      </pc:sldChg>
      <pc:sldChg chg="addSp delSp modSp new mod">
        <pc:chgData name="Dean Sibley" userId="8131f4c15433593a" providerId="LiveId" clId="{36D6E722-2D7C-41B4-9886-7C236E0B2F62}" dt="2025-11-22T03:45:42.147" v="244" actId="313"/>
        <pc:sldMkLst>
          <pc:docMk/>
          <pc:sldMk cId="741121068" sldId="554"/>
        </pc:sldMkLst>
        <pc:spChg chg="mod">
          <ac:chgData name="Dean Sibley" userId="8131f4c15433593a" providerId="LiveId" clId="{36D6E722-2D7C-41B4-9886-7C236E0B2F62}" dt="2025-11-22T03:43:46.356" v="237" actId="1076"/>
          <ac:spMkLst>
            <pc:docMk/>
            <pc:sldMk cId="741121068" sldId="554"/>
            <ac:spMk id="2" creationId="{75154315-419D-ECF1-B52B-4E538B425093}"/>
          </ac:spMkLst>
        </pc:spChg>
        <pc:spChg chg="add del mod">
          <ac:chgData name="Dean Sibley" userId="8131f4c15433593a" providerId="LiveId" clId="{36D6E722-2D7C-41B4-9886-7C236E0B2F62}" dt="2025-11-22T03:45:42.147" v="244" actId="313"/>
          <ac:spMkLst>
            <pc:docMk/>
            <pc:sldMk cId="741121068" sldId="554"/>
            <ac:spMk id="3" creationId="{7C38400A-5DF3-9032-BCCA-FADD60AD6419}"/>
          </ac:spMkLst>
        </pc:spChg>
        <pc:spChg chg="add mod">
          <ac:chgData name="Dean Sibley" userId="8131f4c15433593a" providerId="LiveId" clId="{36D6E722-2D7C-41B4-9886-7C236E0B2F62}" dt="2025-11-22T03:45:11.499" v="241"/>
          <ac:spMkLst>
            <pc:docMk/>
            <pc:sldMk cId="741121068" sldId="554"/>
            <ac:spMk id="6" creationId="{4AF59614-D1BF-ECB7-7B3E-1B9E4F5055FC}"/>
          </ac:spMkLst>
        </pc:spChg>
        <pc:picChg chg="add mod">
          <ac:chgData name="Dean Sibley" userId="8131f4c15433593a" providerId="LiveId" clId="{36D6E722-2D7C-41B4-9886-7C236E0B2F62}" dt="2025-11-22T03:43:59.086" v="239" actId="1076"/>
          <ac:picMkLst>
            <pc:docMk/>
            <pc:sldMk cId="741121068" sldId="554"/>
            <ac:picMk id="5" creationId="{78934FA8-9A12-F438-1829-64118BD1700B}"/>
          </ac:picMkLst>
        </pc:picChg>
      </pc:sldChg>
      <pc:sldChg chg="addSp modSp new mod">
        <pc:chgData name="Dean Sibley" userId="8131f4c15433593a" providerId="LiveId" clId="{36D6E722-2D7C-41B4-9886-7C236E0B2F62}" dt="2025-11-22T03:50:11.734" v="270" actId="1076"/>
        <pc:sldMkLst>
          <pc:docMk/>
          <pc:sldMk cId="1271447555" sldId="555"/>
        </pc:sldMkLst>
        <pc:spChg chg="mod">
          <ac:chgData name="Dean Sibley" userId="8131f4c15433593a" providerId="LiveId" clId="{36D6E722-2D7C-41B4-9886-7C236E0B2F62}" dt="2025-11-22T03:50:11.734" v="270" actId="1076"/>
          <ac:spMkLst>
            <pc:docMk/>
            <pc:sldMk cId="1271447555" sldId="555"/>
            <ac:spMk id="2" creationId="{278A5ECC-B9D0-E89F-B4CE-86C5FC965D4A}"/>
          </ac:spMkLst>
        </pc:spChg>
        <pc:spChg chg="mod">
          <ac:chgData name="Dean Sibley" userId="8131f4c15433593a" providerId="LiveId" clId="{36D6E722-2D7C-41B4-9886-7C236E0B2F62}" dt="2025-11-22T03:50:05.355" v="269" actId="1076"/>
          <ac:spMkLst>
            <pc:docMk/>
            <pc:sldMk cId="1271447555" sldId="555"/>
            <ac:spMk id="3" creationId="{DFA10BC6-063E-6A40-3F37-7E642BB4CAAE}"/>
          </ac:spMkLst>
        </pc:spChg>
        <pc:picChg chg="add mod">
          <ac:chgData name="Dean Sibley" userId="8131f4c15433593a" providerId="LiveId" clId="{36D6E722-2D7C-41B4-9886-7C236E0B2F62}" dt="2025-11-22T03:46:49.913" v="253" actId="1076"/>
          <ac:picMkLst>
            <pc:docMk/>
            <pc:sldMk cId="1271447555" sldId="555"/>
            <ac:picMk id="5" creationId="{A74DA1AC-CA2E-BC22-F969-8CDA41A3621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11/20/2025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sp.net/"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a:t>Contract Monthly Claim System (CMCS)</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dirty="0"/>
              <a:t>Dean Sibley</a:t>
            </a:r>
          </a:p>
          <a:p>
            <a:r>
              <a:rPr lang="en-US" dirty="0"/>
              <a:t>ST10440750</a:t>
            </a:r>
          </a:p>
          <a:p>
            <a:endParaRPr lang="en-US" dirty="0"/>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p:txBody>
          <a:bodyPr>
            <a:normAutofit fontScale="90000"/>
          </a:bodyPr>
          <a:lstStyle/>
          <a:p>
            <a:r>
              <a:rPr lang="en-ZA" dirty="0"/>
              <a:t>Project Evolution &amp; Improvements</a:t>
            </a:r>
            <a:endParaRPr lang="en-US" dirty="0"/>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776984" y="1901952"/>
            <a:ext cx="9703816" cy="4123944"/>
          </a:xfrm>
        </p:spPr>
        <p:txBody>
          <a:bodyPr/>
          <a:lstStyle/>
          <a:p>
            <a:pPr marL="342900" indent="-342900"/>
            <a:r>
              <a:rPr lang="en-US" b="1" dirty="0"/>
              <a:t>Part 2:</a:t>
            </a:r>
            <a:r>
              <a:rPr lang="en-US" dirty="0"/>
              <a:t> Basic in-memory storage system, No Database and visually dull</a:t>
            </a:r>
            <a:endParaRPr lang="en-US" dirty="0">
              <a:solidFill>
                <a:schemeClr val="bg1"/>
              </a:solidFill>
              <a:latin typeface="Segoe UI Light" panose="020B0502040204020203" pitchFamily="34" charset="0"/>
              <a:cs typeface="Segoe UI Light" panose="020B0502040204020203" pitchFamily="34" charset="0"/>
            </a:endParaRPr>
          </a:p>
          <a:p>
            <a:r>
              <a:rPr lang="en-US" b="1" dirty="0"/>
              <a:t>Part 3:</a:t>
            </a:r>
            <a:r>
              <a:rPr lang="en-US" dirty="0"/>
              <a:t> Full database integration with enhanced features</a:t>
            </a:r>
          </a:p>
          <a:p>
            <a:pPr marL="342900" indent="-342900"/>
            <a:r>
              <a:rPr lang="en-ZA" b="1" dirty="0"/>
              <a:t>Key Improvements:</a:t>
            </a:r>
          </a:p>
          <a:p>
            <a:pPr marL="681228" lvl="1" indent="-342900"/>
            <a:r>
              <a:rPr lang="en-ZA" b="1" dirty="0">
                <a:solidFill>
                  <a:schemeClr val="bg1"/>
                </a:solidFill>
                <a:latin typeface="Segoe UI Light" panose="020B0502040204020203" pitchFamily="34" charset="0"/>
                <a:cs typeface="Segoe UI Light" panose="020B0502040204020203" pitchFamily="34" charset="0"/>
              </a:rPr>
              <a:t>User Friendly UI</a:t>
            </a:r>
          </a:p>
          <a:p>
            <a:pPr marL="681228" lvl="1" indent="-342900"/>
            <a:r>
              <a:rPr lang="en-US" dirty="0">
                <a:solidFill>
                  <a:schemeClr val="bg1"/>
                </a:solidFill>
                <a:latin typeface="Segoe UI Light" panose="020B0502040204020203" pitchFamily="34" charset="0"/>
                <a:cs typeface="Segoe UI Light" panose="020B0502040204020203" pitchFamily="34" charset="0"/>
              </a:rPr>
              <a:t>Database integration using SSMS</a:t>
            </a:r>
          </a:p>
          <a:p>
            <a:pPr marL="681228" lvl="1" indent="-342900"/>
            <a:r>
              <a:rPr lang="en-US" dirty="0">
                <a:latin typeface="Segoe UI Light" panose="020B0502040204020203" pitchFamily="34" charset="0"/>
                <a:cs typeface="Segoe UI Light" panose="020B0502040204020203" pitchFamily="34" charset="0"/>
              </a:rPr>
              <a:t>Role based Access Control</a:t>
            </a:r>
          </a:p>
          <a:p>
            <a:pPr marL="681228" lvl="1" indent="-342900"/>
            <a:r>
              <a:rPr lang="en-US" dirty="0">
                <a:latin typeface="Segoe UI Light" panose="020B0502040204020203" pitchFamily="34" charset="0"/>
                <a:cs typeface="Segoe UI Light" panose="020B0502040204020203" pitchFamily="34" charset="0"/>
              </a:rPr>
              <a:t>Able to upload, View and download files</a:t>
            </a:r>
          </a:p>
          <a:p>
            <a:pPr marL="681228" lvl="1" indent="-342900"/>
            <a:endParaRPr lang="en-US" dirty="0">
              <a:solidFill>
                <a:schemeClr val="bg1"/>
              </a:solidFill>
              <a:latin typeface="Segoe UI Light" panose="020B0502040204020203" pitchFamily="34" charset="0"/>
              <a:cs typeface="Segoe UI Light" panose="020B0502040204020203" pitchFamily="34" charset="0"/>
            </a:endParaRPr>
          </a:p>
        </p:txBody>
      </p:sp>
      <p:sp>
        <p:nvSpPr>
          <p:cNvPr id="4" name="Footer Placeholder 3">
            <a:extLst>
              <a:ext uri="{FF2B5EF4-FFF2-40B4-BE49-F238E27FC236}">
                <a16:creationId xmlns:a16="http://schemas.microsoft.com/office/drawing/2014/main" id="{DDD0AE42-75AF-229C-2692-C10ADA4FFA83}"/>
              </a:ext>
            </a:extLst>
          </p:cNvPr>
          <p:cNvSpPr>
            <a:spLocks noGrp="1"/>
          </p:cNvSpPr>
          <p:nvPr>
            <p:ph type="ftr" sz="quarter" idx="10"/>
          </p:nvPr>
        </p:nvSpPr>
        <p:spPr>
          <a:xfrm>
            <a:off x="466344" y="6190488"/>
            <a:ext cx="227923" cy="256032"/>
          </a:xfrm>
        </p:spPr>
        <p:txBody>
          <a:bodyPr/>
          <a:lstStyle/>
          <a:p>
            <a:endParaRPr lang="en-US" dirty="0"/>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a:xfrm>
            <a:off x="2228088" y="1006517"/>
            <a:ext cx="7735824" cy="1069848"/>
          </a:xfrm>
        </p:spPr>
        <p:txBody>
          <a:bodyPr/>
          <a:lstStyle/>
          <a:p>
            <a:r>
              <a:rPr lang="en-US" dirty="0"/>
              <a:t>System Architecture</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p:txBody>
          <a:bodyPr/>
          <a:lstStyle/>
          <a:p>
            <a:r>
              <a:rPr lang="en-ZA" dirty="0"/>
              <a:t>The system is built on a robust technical stack utilizing </a:t>
            </a:r>
            <a:r>
              <a:rPr lang="en-ZA" b="1" dirty="0">
                <a:hlinkClick r:id="rId2"/>
              </a:rPr>
              <a:t>ASP.NET</a:t>
            </a:r>
            <a:r>
              <a:rPr lang="en-ZA" b="1" dirty="0"/>
              <a:t> Core MVC</a:t>
            </a:r>
            <a:r>
              <a:rPr lang="en-ZA" dirty="0"/>
              <a:t> for the web framework, </a:t>
            </a:r>
            <a:r>
              <a:rPr lang="en-ZA" b="1" dirty="0"/>
              <a:t>Entity Framework Core</a:t>
            </a:r>
            <a:r>
              <a:rPr lang="en-ZA" dirty="0"/>
              <a:t> for database operations, and </a:t>
            </a:r>
            <a:r>
              <a:rPr lang="en-ZA" b="1" dirty="0"/>
              <a:t>SQL Server</a:t>
            </a:r>
            <a:r>
              <a:rPr lang="en-ZA" dirty="0"/>
              <a:t> for data storage, complemented by </a:t>
            </a:r>
            <a:r>
              <a:rPr lang="en-ZA" b="1" dirty="0"/>
              <a:t>Bootstrap 5</a:t>
            </a:r>
            <a:r>
              <a:rPr lang="en-ZA" dirty="0"/>
              <a:t> and </a:t>
            </a:r>
            <a:r>
              <a:rPr lang="en-ZA" b="1" dirty="0"/>
              <a:t>Font Awesome</a:t>
            </a:r>
            <a:r>
              <a:rPr lang="en-ZA" dirty="0"/>
              <a:t> for a responsive and modern user interface, with </a:t>
            </a:r>
            <a:r>
              <a:rPr lang="en-ZA" b="1" dirty="0" err="1"/>
              <a:t>QuestPDF</a:t>
            </a:r>
            <a:r>
              <a:rPr lang="en-ZA" dirty="0"/>
              <a:t> enabling professional reporting capabilities.</a:t>
            </a:r>
            <a:endParaRPr lang="en-US" dirty="0"/>
          </a:p>
        </p:txBody>
      </p:sp>
      <p:grpSp>
        <p:nvGrpSpPr>
          <p:cNvPr id="8" name="Group 7">
            <a:extLst>
              <a:ext uri="{FF2B5EF4-FFF2-40B4-BE49-F238E27FC236}">
                <a16:creationId xmlns:a16="http://schemas.microsoft.com/office/drawing/2014/main" id="{26EF2929-5410-A6DF-D5B0-59818A4D9927}"/>
              </a:ext>
            </a:extLst>
          </p:cNvPr>
          <p:cNvGrpSpPr/>
          <p:nvPr/>
        </p:nvGrpSpPr>
        <p:grpSpPr>
          <a:xfrm>
            <a:off x="8077200" y="2076365"/>
            <a:ext cx="1886712" cy="1352635"/>
            <a:chOff x="8077200" y="2076365"/>
            <a:chExt cx="1886712" cy="1352635"/>
          </a:xfrm>
        </p:grpSpPr>
        <p:sp>
          <p:nvSpPr>
            <p:cNvPr id="4" name="Rectangle 3" descr="Data Access Layer:&#10;EntityFramework &amp; SQL Server">
              <a:extLst>
                <a:ext uri="{FF2B5EF4-FFF2-40B4-BE49-F238E27FC236}">
                  <a16:creationId xmlns:a16="http://schemas.microsoft.com/office/drawing/2014/main" id="{B7CE6A2E-AB2D-0E10-E7DB-B16D64A98888}"/>
                </a:ext>
              </a:extLst>
            </p:cNvPr>
            <p:cNvSpPr/>
            <p:nvPr/>
          </p:nvSpPr>
          <p:spPr>
            <a:xfrm>
              <a:off x="8077200" y="2076365"/>
              <a:ext cx="1886712" cy="13526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763C71D6-70EC-65DB-AD28-C38261CF9DEC}"/>
                </a:ext>
              </a:extLst>
            </p:cNvPr>
            <p:cNvSpPr txBox="1"/>
            <p:nvPr/>
          </p:nvSpPr>
          <p:spPr>
            <a:xfrm>
              <a:off x="8077200" y="2123162"/>
              <a:ext cx="1886712" cy="1200329"/>
            </a:xfrm>
            <a:prstGeom prst="rect">
              <a:avLst/>
            </a:prstGeom>
            <a:noFill/>
          </p:spPr>
          <p:txBody>
            <a:bodyPr wrap="square" rtlCol="0">
              <a:spAutoFit/>
            </a:bodyPr>
            <a:lstStyle/>
            <a:p>
              <a:r>
                <a:rPr lang="en-US" dirty="0"/>
                <a:t>Data Access Layer:</a:t>
              </a:r>
            </a:p>
            <a:p>
              <a:r>
                <a:rPr lang="en-US" dirty="0"/>
                <a:t>Entity Framework &amp; SQL Server</a:t>
              </a:r>
              <a:endParaRPr lang="en-ZA" dirty="0"/>
            </a:p>
          </p:txBody>
        </p:sp>
      </p:grpSp>
      <p:sp>
        <p:nvSpPr>
          <p:cNvPr id="7" name="Rectangle 6" descr="Logic Layer:&#10;Controllers, Models and Services">
            <a:extLst>
              <a:ext uri="{FF2B5EF4-FFF2-40B4-BE49-F238E27FC236}">
                <a16:creationId xmlns:a16="http://schemas.microsoft.com/office/drawing/2014/main" id="{3CB9647F-C429-3696-5950-BC76AF762FFF}"/>
              </a:ext>
            </a:extLst>
          </p:cNvPr>
          <p:cNvSpPr/>
          <p:nvPr/>
        </p:nvSpPr>
        <p:spPr>
          <a:xfrm>
            <a:off x="5240594" y="2047008"/>
            <a:ext cx="1710812" cy="13526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Logic Layer:</a:t>
            </a:r>
          </a:p>
          <a:p>
            <a:pPr algn="ctr"/>
            <a:r>
              <a:rPr lang="en-US" dirty="0">
                <a:solidFill>
                  <a:schemeClr val="tx1"/>
                </a:solidFill>
              </a:rPr>
              <a:t>Controllers, Models and Services</a:t>
            </a:r>
            <a:endParaRPr lang="en-ZA" dirty="0">
              <a:solidFill>
                <a:schemeClr val="tx1"/>
              </a:solidFill>
            </a:endParaRPr>
          </a:p>
        </p:txBody>
      </p:sp>
      <p:grpSp>
        <p:nvGrpSpPr>
          <p:cNvPr id="17" name="Group 16">
            <a:extLst>
              <a:ext uri="{FF2B5EF4-FFF2-40B4-BE49-F238E27FC236}">
                <a16:creationId xmlns:a16="http://schemas.microsoft.com/office/drawing/2014/main" id="{FFBF8404-5E71-B218-2019-AEB96D7E9094}"/>
              </a:ext>
            </a:extLst>
          </p:cNvPr>
          <p:cNvGrpSpPr/>
          <p:nvPr/>
        </p:nvGrpSpPr>
        <p:grpSpPr>
          <a:xfrm>
            <a:off x="2536723" y="2017651"/>
            <a:ext cx="1843547" cy="1381992"/>
            <a:chOff x="2536723" y="2017651"/>
            <a:chExt cx="1843547" cy="1381992"/>
          </a:xfrm>
        </p:grpSpPr>
        <p:sp>
          <p:nvSpPr>
            <p:cNvPr id="10" name="Rectangle 9">
              <a:extLst>
                <a:ext uri="{FF2B5EF4-FFF2-40B4-BE49-F238E27FC236}">
                  <a16:creationId xmlns:a16="http://schemas.microsoft.com/office/drawing/2014/main" id="{2E1F7B48-A8F8-B731-C9FD-268778751A76}"/>
                </a:ext>
              </a:extLst>
            </p:cNvPr>
            <p:cNvSpPr/>
            <p:nvPr/>
          </p:nvSpPr>
          <p:spPr>
            <a:xfrm>
              <a:off x="2536723" y="2017651"/>
              <a:ext cx="1710812" cy="13819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TextBox 11">
              <a:extLst>
                <a:ext uri="{FF2B5EF4-FFF2-40B4-BE49-F238E27FC236}">
                  <a16:creationId xmlns:a16="http://schemas.microsoft.com/office/drawing/2014/main" id="{EE56873E-56DF-08B2-E2E6-54CE6B5D25FE}"/>
                </a:ext>
              </a:extLst>
            </p:cNvPr>
            <p:cNvSpPr txBox="1"/>
            <p:nvPr/>
          </p:nvSpPr>
          <p:spPr>
            <a:xfrm>
              <a:off x="2669458" y="2123162"/>
              <a:ext cx="1710812" cy="923330"/>
            </a:xfrm>
            <a:prstGeom prst="rect">
              <a:avLst/>
            </a:prstGeom>
            <a:noFill/>
          </p:spPr>
          <p:txBody>
            <a:bodyPr wrap="square" rtlCol="0">
              <a:spAutoFit/>
            </a:bodyPr>
            <a:lstStyle/>
            <a:p>
              <a:r>
                <a:rPr lang="en-ZA" dirty="0"/>
                <a:t>Presentation Layer: Views and CSS</a:t>
              </a:r>
            </a:p>
          </p:txBody>
        </p:sp>
      </p:grpSp>
      <p:cxnSp>
        <p:nvCxnSpPr>
          <p:cNvPr id="14" name="Straight Arrow Connector 13">
            <a:extLst>
              <a:ext uri="{FF2B5EF4-FFF2-40B4-BE49-F238E27FC236}">
                <a16:creationId xmlns:a16="http://schemas.microsoft.com/office/drawing/2014/main" id="{3CCCED83-77F8-D813-2BC8-EB6E5DD31DC4}"/>
              </a:ext>
            </a:extLst>
          </p:cNvPr>
          <p:cNvCxnSpPr>
            <a:stCxn id="6" idx="1"/>
          </p:cNvCxnSpPr>
          <p:nvPr/>
        </p:nvCxnSpPr>
        <p:spPr>
          <a:xfrm flipH="1" flipV="1">
            <a:off x="6951406" y="2684206"/>
            <a:ext cx="1125794" cy="39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B8E0790-AFD6-B7BF-69EB-F969B2149A68}"/>
              </a:ext>
            </a:extLst>
          </p:cNvPr>
          <p:cNvCxnSpPr>
            <a:cxnSpLocks/>
            <a:stCxn id="7" idx="1"/>
          </p:cNvCxnSpPr>
          <p:nvPr/>
        </p:nvCxnSpPr>
        <p:spPr>
          <a:xfrm flipH="1" flipV="1">
            <a:off x="4247535" y="2703766"/>
            <a:ext cx="993059" cy="19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a:xfrm>
            <a:off x="265766" y="455136"/>
            <a:ext cx="4718304" cy="1069848"/>
          </a:xfrm>
        </p:spPr>
        <p:txBody>
          <a:bodyPr/>
          <a:lstStyle/>
          <a:p>
            <a:r>
              <a:rPr lang="en-US" dirty="0"/>
              <a:t>Multi-role Loging</a:t>
            </a:r>
          </a:p>
        </p:txBody>
      </p:sp>
      <p:sp>
        <p:nvSpPr>
          <p:cNvPr id="3" name="Subtitle 2">
            <a:extLst>
              <a:ext uri="{FF2B5EF4-FFF2-40B4-BE49-F238E27FC236}">
                <a16:creationId xmlns:a16="http://schemas.microsoft.com/office/drawing/2014/main" id="{C05FF0B8-5B51-7376-0271-8D849CA3F8A8}"/>
              </a:ext>
            </a:extLst>
          </p:cNvPr>
          <p:cNvSpPr>
            <a:spLocks noGrp="1"/>
          </p:cNvSpPr>
          <p:nvPr>
            <p:ph type="body" idx="1"/>
          </p:nvPr>
        </p:nvSpPr>
        <p:spPr>
          <a:xfrm>
            <a:off x="274910" y="1524984"/>
            <a:ext cx="4709160" cy="2395728"/>
          </a:xfrm>
        </p:spPr>
        <p:txBody>
          <a:bodyPr/>
          <a:lstStyle/>
          <a:p>
            <a:r>
              <a:rPr lang="en-US" sz="1600" dirty="0"/>
              <a:t>The system has four different user roles: Academic Managers provide final approval, authorize payments, and oversee finances; HR Administrators manage user management, system reporting, and account activation; Lecturers submit claims, upload documents, and monitor status; Program Coordinators verify claims, provide initial approval/rejection, and ensure quality.</a:t>
            </a:r>
          </a:p>
        </p:txBody>
      </p:sp>
      <p:pic>
        <p:nvPicPr>
          <p:cNvPr id="6" name="Picture 5">
            <a:extLst>
              <a:ext uri="{FF2B5EF4-FFF2-40B4-BE49-F238E27FC236}">
                <a16:creationId xmlns:a16="http://schemas.microsoft.com/office/drawing/2014/main" id="{9CBAAA83-63AE-308A-5D11-8EF088147125}"/>
              </a:ext>
            </a:extLst>
          </p:cNvPr>
          <p:cNvPicPr>
            <a:picLocks noChangeAspect="1"/>
          </p:cNvPicPr>
          <p:nvPr/>
        </p:nvPicPr>
        <p:blipFill>
          <a:blip r:embed="rId2"/>
          <a:stretch>
            <a:fillRect/>
          </a:stretch>
        </p:blipFill>
        <p:spPr>
          <a:xfrm>
            <a:off x="6096000" y="1524984"/>
            <a:ext cx="5645585" cy="2395728"/>
          </a:xfrm>
          <a:prstGeom prst="rect">
            <a:avLst/>
          </a:prstGeom>
        </p:spPr>
      </p:pic>
      <p:sp>
        <p:nvSpPr>
          <p:cNvPr id="7" name="TextBox 6">
            <a:extLst>
              <a:ext uri="{FF2B5EF4-FFF2-40B4-BE49-F238E27FC236}">
                <a16:creationId xmlns:a16="http://schemas.microsoft.com/office/drawing/2014/main" id="{3209E47F-0088-5628-853A-190E9AF1BBB4}"/>
              </a:ext>
            </a:extLst>
          </p:cNvPr>
          <p:cNvSpPr txBox="1"/>
          <p:nvPr/>
        </p:nvSpPr>
        <p:spPr>
          <a:xfrm>
            <a:off x="6110748" y="4055806"/>
            <a:ext cx="5216013" cy="369332"/>
          </a:xfrm>
          <a:prstGeom prst="rect">
            <a:avLst/>
          </a:prstGeom>
          <a:noFill/>
        </p:spPr>
        <p:txBody>
          <a:bodyPr wrap="square" rtlCol="0">
            <a:spAutoFit/>
          </a:bodyPr>
          <a:lstStyle/>
          <a:p>
            <a:r>
              <a:rPr lang="en-ZA" dirty="0">
                <a:solidFill>
                  <a:schemeClr val="bg1"/>
                </a:solidFill>
              </a:rPr>
              <a:t>Based on the extract each user is assigned a role.</a:t>
            </a:r>
          </a:p>
        </p:txBody>
      </p:sp>
    </p:spTree>
    <p:extLst>
      <p:ext uri="{BB962C8B-B14F-4D97-AF65-F5344CB8AC3E}">
        <p14:creationId xmlns:p14="http://schemas.microsoft.com/office/powerpoint/2010/main" val="548476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82EBB-8EE1-36DC-3B0F-0EB872BB08F1}"/>
              </a:ext>
            </a:extLst>
          </p:cNvPr>
          <p:cNvSpPr>
            <a:spLocks noGrp="1"/>
          </p:cNvSpPr>
          <p:nvPr>
            <p:ph type="ctrTitle"/>
          </p:nvPr>
        </p:nvSpPr>
        <p:spPr>
          <a:xfrm>
            <a:off x="1916405" y="329037"/>
            <a:ext cx="7763256" cy="1600200"/>
          </a:xfrm>
        </p:spPr>
        <p:txBody>
          <a:bodyPr/>
          <a:lstStyle/>
          <a:p>
            <a:r>
              <a:rPr lang="en-ZA" dirty="0"/>
              <a:t>Lecturer workflow</a:t>
            </a:r>
          </a:p>
        </p:txBody>
      </p:sp>
      <p:sp>
        <p:nvSpPr>
          <p:cNvPr id="3" name="Subtitle 2">
            <a:extLst>
              <a:ext uri="{FF2B5EF4-FFF2-40B4-BE49-F238E27FC236}">
                <a16:creationId xmlns:a16="http://schemas.microsoft.com/office/drawing/2014/main" id="{7D29ECB3-D5F2-8C11-CAFC-54C9D416C048}"/>
              </a:ext>
            </a:extLst>
          </p:cNvPr>
          <p:cNvSpPr>
            <a:spLocks noGrp="1"/>
          </p:cNvSpPr>
          <p:nvPr>
            <p:ph type="subTitle" idx="1"/>
          </p:nvPr>
        </p:nvSpPr>
        <p:spPr>
          <a:xfrm>
            <a:off x="2234577" y="2899631"/>
            <a:ext cx="7337126" cy="2116626"/>
          </a:xfrm>
        </p:spPr>
        <p:txBody>
          <a:bodyPr/>
          <a:lstStyle/>
          <a:p>
            <a:r>
              <a:rPr lang="en-US" dirty="0"/>
              <a:t>Real-time amount calculation that automatically calculates claim totals, thorough file validation that supports PDF, DOC, and image formats with a 5MB size limit, hours worked validation that enforces a maximum of 180 hours per claim, and automatic status updates that monitor each claim's progress through the approval workflow are just a few of the system's key features.</a:t>
            </a:r>
            <a:endParaRPr lang="en-ZA" dirty="0"/>
          </a:p>
        </p:txBody>
      </p:sp>
      <p:pic>
        <p:nvPicPr>
          <p:cNvPr id="5" name="Picture 4">
            <a:extLst>
              <a:ext uri="{FF2B5EF4-FFF2-40B4-BE49-F238E27FC236}">
                <a16:creationId xmlns:a16="http://schemas.microsoft.com/office/drawing/2014/main" id="{962FB032-AC9A-12D1-DB79-DB2049EDD2E3}"/>
              </a:ext>
            </a:extLst>
          </p:cNvPr>
          <p:cNvPicPr>
            <a:picLocks noChangeAspect="1"/>
          </p:cNvPicPr>
          <p:nvPr/>
        </p:nvPicPr>
        <p:blipFill>
          <a:blip r:embed="rId2"/>
          <a:stretch>
            <a:fillRect/>
          </a:stretch>
        </p:blipFill>
        <p:spPr>
          <a:xfrm>
            <a:off x="1088922" y="1929237"/>
            <a:ext cx="10014155" cy="638672"/>
          </a:xfrm>
          <a:prstGeom prst="rect">
            <a:avLst/>
          </a:prstGeom>
        </p:spPr>
      </p:pic>
    </p:spTree>
    <p:extLst>
      <p:ext uri="{BB962C8B-B14F-4D97-AF65-F5344CB8AC3E}">
        <p14:creationId xmlns:p14="http://schemas.microsoft.com/office/powerpoint/2010/main" val="2009942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4F4EC-1546-48E0-8D72-BF0DBA5D0BC0}"/>
              </a:ext>
            </a:extLst>
          </p:cNvPr>
          <p:cNvSpPr>
            <a:spLocks noGrp="1"/>
          </p:cNvSpPr>
          <p:nvPr>
            <p:ph type="ctrTitle"/>
          </p:nvPr>
        </p:nvSpPr>
        <p:spPr>
          <a:xfrm>
            <a:off x="2214372" y="0"/>
            <a:ext cx="7763256" cy="979883"/>
          </a:xfrm>
        </p:spPr>
        <p:txBody>
          <a:bodyPr/>
          <a:lstStyle/>
          <a:p>
            <a:r>
              <a:rPr lang="en-ZA" dirty="0"/>
              <a:t>Improved Validation and security</a:t>
            </a:r>
          </a:p>
        </p:txBody>
      </p:sp>
      <p:sp>
        <p:nvSpPr>
          <p:cNvPr id="3" name="Subtitle 2">
            <a:extLst>
              <a:ext uri="{FF2B5EF4-FFF2-40B4-BE49-F238E27FC236}">
                <a16:creationId xmlns:a16="http://schemas.microsoft.com/office/drawing/2014/main" id="{407E3049-5067-4AB7-17EA-FFF9BA921952}"/>
              </a:ext>
            </a:extLst>
          </p:cNvPr>
          <p:cNvSpPr>
            <a:spLocks noGrp="1"/>
          </p:cNvSpPr>
          <p:nvPr>
            <p:ph type="subTitle" idx="1"/>
          </p:nvPr>
        </p:nvSpPr>
        <p:spPr>
          <a:xfrm>
            <a:off x="1019604" y="4031865"/>
            <a:ext cx="3221047" cy="1400211"/>
          </a:xfrm>
        </p:spPr>
        <p:txBody>
          <a:bodyPr/>
          <a:lstStyle/>
          <a:p>
            <a:r>
              <a:rPr lang="en-ZA" dirty="0"/>
              <a:t>Above method checks if: 1# The User is Logged in and 2# If the User is Assigned a role </a:t>
            </a:r>
          </a:p>
        </p:txBody>
      </p:sp>
      <p:pic>
        <p:nvPicPr>
          <p:cNvPr id="5" name="Picture 4">
            <a:extLst>
              <a:ext uri="{FF2B5EF4-FFF2-40B4-BE49-F238E27FC236}">
                <a16:creationId xmlns:a16="http://schemas.microsoft.com/office/drawing/2014/main" id="{FE539C64-4F47-635C-4C03-6268691ACE38}"/>
              </a:ext>
            </a:extLst>
          </p:cNvPr>
          <p:cNvPicPr>
            <a:picLocks noChangeAspect="1"/>
          </p:cNvPicPr>
          <p:nvPr/>
        </p:nvPicPr>
        <p:blipFill>
          <a:blip r:embed="rId2"/>
          <a:stretch>
            <a:fillRect/>
          </a:stretch>
        </p:blipFill>
        <p:spPr>
          <a:xfrm>
            <a:off x="481941" y="1469282"/>
            <a:ext cx="4296375" cy="2562583"/>
          </a:xfrm>
          <a:prstGeom prst="rect">
            <a:avLst/>
          </a:prstGeom>
        </p:spPr>
      </p:pic>
      <p:sp>
        <p:nvSpPr>
          <p:cNvPr id="7" name="Rectangle 6">
            <a:extLst>
              <a:ext uri="{FF2B5EF4-FFF2-40B4-BE49-F238E27FC236}">
                <a16:creationId xmlns:a16="http://schemas.microsoft.com/office/drawing/2014/main" id="{1CB40E8E-B622-80E2-FC40-A11C076730A8}"/>
              </a:ext>
            </a:extLst>
          </p:cNvPr>
          <p:cNvSpPr/>
          <p:nvPr/>
        </p:nvSpPr>
        <p:spPr>
          <a:xfrm>
            <a:off x="5339078" y="1469282"/>
            <a:ext cx="412955" cy="38640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Box 7">
            <a:extLst>
              <a:ext uri="{FF2B5EF4-FFF2-40B4-BE49-F238E27FC236}">
                <a16:creationId xmlns:a16="http://schemas.microsoft.com/office/drawing/2014/main" id="{C1179FBA-5E90-EFBA-C1D6-553A2BDA6B8F}"/>
              </a:ext>
            </a:extLst>
          </p:cNvPr>
          <p:cNvSpPr txBox="1"/>
          <p:nvPr/>
        </p:nvSpPr>
        <p:spPr>
          <a:xfrm>
            <a:off x="6769510" y="1976284"/>
            <a:ext cx="4055806" cy="2585323"/>
          </a:xfrm>
          <a:prstGeom prst="rect">
            <a:avLst/>
          </a:prstGeom>
          <a:noFill/>
        </p:spPr>
        <p:txBody>
          <a:bodyPr wrap="square" rtlCol="0">
            <a:spAutoFit/>
          </a:bodyPr>
          <a:lstStyle/>
          <a:p>
            <a:r>
              <a:rPr lang="en-ZA" dirty="0">
                <a:solidFill>
                  <a:schemeClr val="bg1"/>
                </a:solidFill>
              </a:rPr>
              <a:t>Furthermore </a:t>
            </a:r>
            <a:r>
              <a:rPr lang="en-US" dirty="0">
                <a:solidFill>
                  <a:schemeClr val="bg1"/>
                </a:solidFill>
              </a:rPr>
              <a:t>Strong security mechanisms are implemented by the system, such as secure session management for user authentication, anti-forgery tokens to stop CSRF attacks, role-based </a:t>
            </a:r>
            <a:r>
              <a:rPr lang="en-US" dirty="0" err="1">
                <a:solidFill>
                  <a:schemeClr val="bg1"/>
                </a:solidFill>
              </a:rPr>
              <a:t>authorisation</a:t>
            </a:r>
            <a:r>
              <a:rPr lang="en-US" dirty="0">
                <a:solidFill>
                  <a:schemeClr val="bg1"/>
                </a:solidFill>
              </a:rPr>
              <a:t> to govern access, and secured file uploads with validation to guarantee document safekeeping.</a:t>
            </a:r>
            <a:endParaRPr lang="en-ZA" dirty="0">
              <a:solidFill>
                <a:schemeClr val="bg1"/>
              </a:solidFill>
            </a:endParaRPr>
          </a:p>
        </p:txBody>
      </p:sp>
    </p:spTree>
    <p:extLst>
      <p:ext uri="{BB962C8B-B14F-4D97-AF65-F5344CB8AC3E}">
        <p14:creationId xmlns:p14="http://schemas.microsoft.com/office/powerpoint/2010/main" val="73865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4C44EC9-F730-00B6-E479-530EC276D851}"/>
              </a:ext>
              <a:ext uri="{C183D7F6-B498-43B3-948B-1728B52AA6E4}">
                <adec:decorative xmlns:adec="http://schemas.microsoft.com/office/drawing/2017/decorative" val="1"/>
              </a:ext>
            </a:extLst>
          </p:cNvPr>
          <p:cNvGrpSpPr/>
          <p:nvPr/>
        </p:nvGrpSpPr>
        <p:grpSpPr>
          <a:xfrm rot="10800000">
            <a:off x="1497321" y="2736484"/>
            <a:ext cx="1512407" cy="938717"/>
            <a:chOff x="4779792" y="2384561"/>
            <a:chExt cx="3365480" cy="2088878"/>
          </a:xfrm>
          <a:solidFill>
            <a:schemeClr val="accent6">
              <a:alpha val="50231"/>
            </a:schemeClr>
          </a:solidFill>
        </p:grpSpPr>
        <p:sp>
          <p:nvSpPr>
            <p:cNvPr id="5" name="Freeform 4">
              <a:extLst>
                <a:ext uri="{FF2B5EF4-FFF2-40B4-BE49-F238E27FC236}">
                  <a16:creationId xmlns:a16="http://schemas.microsoft.com/office/drawing/2014/main" id="{8B6D2F8E-4F98-B89F-E4FB-DD9F900821E1}"/>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99EBD7AD-ED91-CC5F-0110-3EE43A60F946}"/>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7" name="Group 6">
            <a:extLst>
              <a:ext uri="{FF2B5EF4-FFF2-40B4-BE49-F238E27FC236}">
                <a16:creationId xmlns:a16="http://schemas.microsoft.com/office/drawing/2014/main" id="{56B0BED4-B4D2-A8C2-9E8E-FA7D1819E15A}"/>
              </a:ext>
              <a:ext uri="{C183D7F6-B498-43B3-948B-1728B52AA6E4}">
                <adec:decorative xmlns:adec="http://schemas.microsoft.com/office/drawing/2017/decorative" val="1"/>
              </a:ext>
            </a:extLst>
          </p:cNvPr>
          <p:cNvGrpSpPr/>
          <p:nvPr/>
        </p:nvGrpSpPr>
        <p:grpSpPr>
          <a:xfrm>
            <a:off x="9199707" y="3205843"/>
            <a:ext cx="1512408" cy="938718"/>
            <a:chOff x="4779792" y="2384561"/>
            <a:chExt cx="3365480" cy="2088878"/>
          </a:xfrm>
          <a:solidFill>
            <a:schemeClr val="accent1">
              <a:alpha val="48174"/>
            </a:schemeClr>
          </a:solidFill>
        </p:grpSpPr>
        <p:sp>
          <p:nvSpPr>
            <p:cNvPr id="8" name="Freeform 1">
              <a:extLst>
                <a:ext uri="{FF2B5EF4-FFF2-40B4-BE49-F238E27FC236}">
                  <a16:creationId xmlns:a16="http://schemas.microsoft.com/office/drawing/2014/main" id="{B542C6FD-B908-03BB-DE9D-1E76EE849265}"/>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21">
              <a:extLst>
                <a:ext uri="{FF2B5EF4-FFF2-40B4-BE49-F238E27FC236}">
                  <a16:creationId xmlns:a16="http://schemas.microsoft.com/office/drawing/2014/main" id="{594F7F18-2B8D-7493-904B-1BD252DFC677}"/>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D04F090D-C862-CF85-1001-A82E54365597}"/>
              </a:ext>
            </a:extLst>
          </p:cNvPr>
          <p:cNvSpPr>
            <a:spLocks noGrp="1"/>
          </p:cNvSpPr>
          <p:nvPr>
            <p:ph type="ctrTitle"/>
          </p:nvPr>
        </p:nvSpPr>
        <p:spPr/>
        <p:txBody>
          <a:bodyPr/>
          <a:lstStyle/>
          <a:p>
            <a:r>
              <a:rPr lang="en-US" dirty="0"/>
              <a:t>WEALTH IS THE ABILITY TO FULLY EXPERIENCE LIFE.</a:t>
            </a:r>
            <a:br>
              <a:rPr lang="en-US" dirty="0"/>
            </a:br>
            <a:endParaRPr lang="en-US" dirty="0"/>
          </a:p>
        </p:txBody>
      </p:sp>
      <p:sp>
        <p:nvSpPr>
          <p:cNvPr id="3" name="Subtitle 2">
            <a:extLst>
              <a:ext uri="{FF2B5EF4-FFF2-40B4-BE49-F238E27FC236}">
                <a16:creationId xmlns:a16="http://schemas.microsoft.com/office/drawing/2014/main" id="{4CE82C04-6445-9E02-B0E8-8D809278C37D}"/>
              </a:ext>
            </a:extLst>
          </p:cNvPr>
          <p:cNvSpPr>
            <a:spLocks noGrp="1"/>
          </p:cNvSpPr>
          <p:nvPr>
            <p:ph type="subTitle" idx="1"/>
          </p:nvPr>
        </p:nvSpPr>
        <p:spPr/>
        <p:txBody>
          <a:bodyPr/>
          <a:lstStyle/>
          <a:p>
            <a:r>
              <a:rPr lang="en-US" dirty="0"/>
              <a:t>-Henry David Thoreau</a:t>
            </a:r>
          </a:p>
        </p:txBody>
      </p:sp>
    </p:spTree>
    <p:extLst>
      <p:ext uri="{BB962C8B-B14F-4D97-AF65-F5344CB8AC3E}">
        <p14:creationId xmlns:p14="http://schemas.microsoft.com/office/powerpoint/2010/main" val="1213210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A9917-A95C-7989-C211-F7268365DCE4}"/>
              </a:ext>
            </a:extLst>
          </p:cNvPr>
          <p:cNvSpPr>
            <a:spLocks noGrp="1"/>
          </p:cNvSpPr>
          <p:nvPr>
            <p:ph type="title"/>
          </p:nvPr>
        </p:nvSpPr>
        <p:spPr>
          <a:xfrm>
            <a:off x="850392" y="312518"/>
            <a:ext cx="10881360" cy="819715"/>
          </a:xfrm>
        </p:spPr>
        <p:txBody>
          <a:bodyPr/>
          <a:lstStyle/>
          <a:p>
            <a:r>
              <a:rPr lang="en-ZA" dirty="0"/>
              <a:t>Programme Coordinator</a:t>
            </a:r>
          </a:p>
        </p:txBody>
      </p:sp>
      <p:sp>
        <p:nvSpPr>
          <p:cNvPr id="3" name="Footer Placeholder 2">
            <a:extLst>
              <a:ext uri="{FF2B5EF4-FFF2-40B4-BE49-F238E27FC236}">
                <a16:creationId xmlns:a16="http://schemas.microsoft.com/office/drawing/2014/main" id="{6386457D-FB54-6C66-1C09-2903D30344F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CD0FE56-F7CD-3027-37B6-375294214819}"/>
              </a:ext>
            </a:extLst>
          </p:cNvPr>
          <p:cNvSpPr>
            <a:spLocks noGrp="1"/>
          </p:cNvSpPr>
          <p:nvPr>
            <p:ph type="sldNum" sz="quarter" idx="12"/>
          </p:nvPr>
        </p:nvSpPr>
        <p:spPr/>
        <p:txBody>
          <a:bodyPr/>
          <a:lstStyle/>
          <a:p>
            <a:fld id="{294A09A9-5501-47C1-A89A-A340965A2BE2}" type="slidenum">
              <a:rPr lang="en-US" smtClean="0"/>
              <a:t>8</a:t>
            </a:fld>
            <a:endParaRPr lang="en-US" dirty="0"/>
          </a:p>
        </p:txBody>
      </p:sp>
      <p:sp>
        <p:nvSpPr>
          <p:cNvPr id="5" name="TextBox 4">
            <a:extLst>
              <a:ext uri="{FF2B5EF4-FFF2-40B4-BE49-F238E27FC236}">
                <a16:creationId xmlns:a16="http://schemas.microsoft.com/office/drawing/2014/main" id="{B413BB19-FBC9-B18C-501E-597A3D106B91}"/>
              </a:ext>
            </a:extLst>
          </p:cNvPr>
          <p:cNvSpPr txBox="1"/>
          <p:nvPr/>
        </p:nvSpPr>
        <p:spPr>
          <a:xfrm>
            <a:off x="1179871" y="1696065"/>
            <a:ext cx="2462981" cy="2862322"/>
          </a:xfrm>
          <a:prstGeom prst="rect">
            <a:avLst/>
          </a:prstGeom>
          <a:noFill/>
        </p:spPr>
        <p:txBody>
          <a:bodyPr wrap="square" rtlCol="0">
            <a:spAutoFit/>
          </a:bodyPr>
          <a:lstStyle/>
          <a:p>
            <a:r>
              <a:rPr lang="en-ZA" dirty="0">
                <a:solidFill>
                  <a:schemeClr val="bg1"/>
                </a:solidFill>
              </a:rPr>
              <a:t>The </a:t>
            </a:r>
            <a:r>
              <a:rPr lang="en-ZA" b="1" dirty="0">
                <a:solidFill>
                  <a:schemeClr val="bg1"/>
                </a:solidFill>
              </a:rPr>
              <a:t>Programme Coordinator's View is equipped with:</a:t>
            </a:r>
          </a:p>
          <a:p>
            <a:pPr marL="285750" indent="-285750">
              <a:buFont typeface="Arial" panose="020B0604020202020204" pitchFamily="34" charset="0"/>
              <a:buChar char="•"/>
            </a:pPr>
            <a:r>
              <a:rPr lang="en-ZA" dirty="0">
                <a:solidFill>
                  <a:schemeClr val="bg1"/>
                </a:solidFill>
              </a:rPr>
              <a:t>Pending claims dashboard</a:t>
            </a:r>
          </a:p>
          <a:p>
            <a:pPr marL="285750" indent="-285750">
              <a:buFont typeface="Arial" panose="020B0604020202020204" pitchFamily="34" charset="0"/>
              <a:buChar char="•"/>
            </a:pPr>
            <a:r>
              <a:rPr lang="en-US" dirty="0">
                <a:solidFill>
                  <a:schemeClr val="bg1"/>
                </a:solidFill>
              </a:rPr>
              <a:t>Rejection reason tracking</a:t>
            </a:r>
          </a:p>
          <a:p>
            <a:pPr marL="285750" indent="-285750">
              <a:buFont typeface="Arial" panose="020B0604020202020204" pitchFamily="34" charset="0"/>
              <a:buChar char="•"/>
            </a:pPr>
            <a:r>
              <a:rPr lang="en-US" dirty="0">
                <a:solidFill>
                  <a:schemeClr val="bg1"/>
                </a:solidFill>
              </a:rPr>
              <a:t>Document preview functionality</a:t>
            </a:r>
          </a:p>
          <a:p>
            <a:pPr marL="285750" indent="-285750">
              <a:buFont typeface="Arial" panose="020B0604020202020204" pitchFamily="34" charset="0"/>
              <a:buChar char="•"/>
            </a:pPr>
            <a:endParaRPr lang="en-ZA" dirty="0">
              <a:solidFill>
                <a:schemeClr val="bg1"/>
              </a:solidFill>
            </a:endParaRPr>
          </a:p>
        </p:txBody>
      </p:sp>
      <p:sp>
        <p:nvSpPr>
          <p:cNvPr id="6" name="Rectangle 5">
            <a:extLst>
              <a:ext uri="{FF2B5EF4-FFF2-40B4-BE49-F238E27FC236}">
                <a16:creationId xmlns:a16="http://schemas.microsoft.com/office/drawing/2014/main" id="{370DCD1B-302F-B553-16CD-546FB77D7B84}"/>
              </a:ext>
            </a:extLst>
          </p:cNvPr>
          <p:cNvSpPr/>
          <p:nvPr/>
        </p:nvSpPr>
        <p:spPr>
          <a:xfrm>
            <a:off x="3642852" y="1696065"/>
            <a:ext cx="412954" cy="3893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 name="Picture 7">
            <a:extLst>
              <a:ext uri="{FF2B5EF4-FFF2-40B4-BE49-F238E27FC236}">
                <a16:creationId xmlns:a16="http://schemas.microsoft.com/office/drawing/2014/main" id="{CE427106-5A38-5C1B-71E1-E40B4331546C}"/>
              </a:ext>
            </a:extLst>
          </p:cNvPr>
          <p:cNvPicPr>
            <a:picLocks noChangeAspect="1"/>
          </p:cNvPicPr>
          <p:nvPr/>
        </p:nvPicPr>
        <p:blipFill>
          <a:blip r:embed="rId2"/>
          <a:stretch>
            <a:fillRect/>
          </a:stretch>
        </p:blipFill>
        <p:spPr>
          <a:xfrm>
            <a:off x="7697748" y="1498223"/>
            <a:ext cx="4229690" cy="3258005"/>
          </a:xfrm>
          <a:prstGeom prst="rect">
            <a:avLst/>
          </a:prstGeom>
        </p:spPr>
      </p:pic>
      <p:sp>
        <p:nvSpPr>
          <p:cNvPr id="9" name="TextBox 8">
            <a:extLst>
              <a:ext uri="{FF2B5EF4-FFF2-40B4-BE49-F238E27FC236}">
                <a16:creationId xmlns:a16="http://schemas.microsoft.com/office/drawing/2014/main" id="{4E1DD76C-C117-A778-56A4-E1CCF74CDD11}"/>
              </a:ext>
            </a:extLst>
          </p:cNvPr>
          <p:cNvSpPr txBox="1"/>
          <p:nvPr/>
        </p:nvSpPr>
        <p:spPr>
          <a:xfrm>
            <a:off x="5211096" y="1973063"/>
            <a:ext cx="1769807" cy="2308324"/>
          </a:xfrm>
          <a:prstGeom prst="rect">
            <a:avLst/>
          </a:prstGeom>
          <a:noFill/>
        </p:spPr>
        <p:txBody>
          <a:bodyPr wrap="square" rtlCol="0">
            <a:spAutoFit/>
          </a:bodyPr>
          <a:lstStyle/>
          <a:p>
            <a:r>
              <a:rPr lang="en-ZA" dirty="0">
                <a:solidFill>
                  <a:schemeClr val="bg1"/>
                </a:solidFill>
              </a:rPr>
              <a:t>Example of this is the following method which checks if the user is authorized to approve the claim</a:t>
            </a:r>
          </a:p>
        </p:txBody>
      </p:sp>
    </p:spTree>
    <p:extLst>
      <p:ext uri="{BB962C8B-B14F-4D97-AF65-F5344CB8AC3E}">
        <p14:creationId xmlns:p14="http://schemas.microsoft.com/office/powerpoint/2010/main" val="3425985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F22C0-F2B0-9D55-4E85-B1CCE459442F}"/>
              </a:ext>
            </a:extLst>
          </p:cNvPr>
          <p:cNvSpPr>
            <a:spLocks noGrp="1"/>
          </p:cNvSpPr>
          <p:nvPr>
            <p:ph type="title"/>
          </p:nvPr>
        </p:nvSpPr>
        <p:spPr>
          <a:xfrm>
            <a:off x="655320" y="116070"/>
            <a:ext cx="10881360" cy="554244"/>
          </a:xfrm>
        </p:spPr>
        <p:txBody>
          <a:bodyPr/>
          <a:lstStyle/>
          <a:p>
            <a:r>
              <a:rPr lang="en-ZA" dirty="0"/>
              <a:t>Academic Manager</a:t>
            </a:r>
          </a:p>
        </p:txBody>
      </p:sp>
      <p:sp>
        <p:nvSpPr>
          <p:cNvPr id="4" name="Slide Number Placeholder 3">
            <a:extLst>
              <a:ext uri="{FF2B5EF4-FFF2-40B4-BE49-F238E27FC236}">
                <a16:creationId xmlns:a16="http://schemas.microsoft.com/office/drawing/2014/main" id="{1BD689C7-6C24-7A1C-C455-44E799CC4C7F}"/>
              </a:ext>
            </a:extLst>
          </p:cNvPr>
          <p:cNvSpPr>
            <a:spLocks noGrp="1"/>
          </p:cNvSpPr>
          <p:nvPr>
            <p:ph type="sldNum" sz="quarter" idx="12"/>
          </p:nvPr>
        </p:nvSpPr>
        <p:spPr/>
        <p:txBody>
          <a:bodyPr/>
          <a:lstStyle/>
          <a:p>
            <a:fld id="{294A09A9-5501-47C1-A89A-A340965A2BE2}" type="slidenum">
              <a:rPr lang="en-US" smtClean="0"/>
              <a:t>9</a:t>
            </a:fld>
            <a:endParaRPr lang="en-US" dirty="0"/>
          </a:p>
        </p:txBody>
      </p:sp>
      <p:pic>
        <p:nvPicPr>
          <p:cNvPr id="6" name="Picture 5">
            <a:extLst>
              <a:ext uri="{FF2B5EF4-FFF2-40B4-BE49-F238E27FC236}">
                <a16:creationId xmlns:a16="http://schemas.microsoft.com/office/drawing/2014/main" id="{0C31B92D-19C8-8B21-01B3-F5544ADE09F1}"/>
              </a:ext>
            </a:extLst>
          </p:cNvPr>
          <p:cNvPicPr>
            <a:picLocks noChangeAspect="1"/>
          </p:cNvPicPr>
          <p:nvPr/>
        </p:nvPicPr>
        <p:blipFill>
          <a:blip r:embed="rId2"/>
          <a:stretch>
            <a:fillRect/>
          </a:stretch>
        </p:blipFill>
        <p:spPr>
          <a:xfrm>
            <a:off x="655320" y="922428"/>
            <a:ext cx="4620270" cy="2534004"/>
          </a:xfrm>
          <a:prstGeom prst="rect">
            <a:avLst/>
          </a:prstGeom>
        </p:spPr>
      </p:pic>
      <p:pic>
        <p:nvPicPr>
          <p:cNvPr id="8" name="Picture 7">
            <a:extLst>
              <a:ext uri="{FF2B5EF4-FFF2-40B4-BE49-F238E27FC236}">
                <a16:creationId xmlns:a16="http://schemas.microsoft.com/office/drawing/2014/main" id="{54C2224F-76EE-3514-1B1E-6184D554FA9F}"/>
              </a:ext>
            </a:extLst>
          </p:cNvPr>
          <p:cNvPicPr>
            <a:picLocks noChangeAspect="1"/>
          </p:cNvPicPr>
          <p:nvPr/>
        </p:nvPicPr>
        <p:blipFill>
          <a:blip r:embed="rId3"/>
          <a:stretch>
            <a:fillRect/>
          </a:stretch>
        </p:blipFill>
        <p:spPr>
          <a:xfrm>
            <a:off x="6096000" y="850980"/>
            <a:ext cx="5801535" cy="2676899"/>
          </a:xfrm>
          <a:prstGeom prst="rect">
            <a:avLst/>
          </a:prstGeom>
        </p:spPr>
      </p:pic>
      <p:sp>
        <p:nvSpPr>
          <p:cNvPr id="9" name="Rectangle 8">
            <a:extLst>
              <a:ext uri="{FF2B5EF4-FFF2-40B4-BE49-F238E27FC236}">
                <a16:creationId xmlns:a16="http://schemas.microsoft.com/office/drawing/2014/main" id="{29F340E6-B290-1389-F9C7-6ABD8A118461}"/>
              </a:ext>
            </a:extLst>
          </p:cNvPr>
          <p:cNvSpPr/>
          <p:nvPr/>
        </p:nvSpPr>
        <p:spPr>
          <a:xfrm>
            <a:off x="5490732" y="850980"/>
            <a:ext cx="368710" cy="55055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TextBox 9">
            <a:extLst>
              <a:ext uri="{FF2B5EF4-FFF2-40B4-BE49-F238E27FC236}">
                <a16:creationId xmlns:a16="http://schemas.microsoft.com/office/drawing/2014/main" id="{BA75C566-2698-669B-DF4C-06E3D1908C22}"/>
              </a:ext>
            </a:extLst>
          </p:cNvPr>
          <p:cNvSpPr txBox="1"/>
          <p:nvPr/>
        </p:nvSpPr>
        <p:spPr>
          <a:xfrm>
            <a:off x="655320" y="3805084"/>
            <a:ext cx="4344383" cy="2308324"/>
          </a:xfrm>
          <a:prstGeom prst="rect">
            <a:avLst/>
          </a:prstGeom>
          <a:noFill/>
        </p:spPr>
        <p:txBody>
          <a:bodyPr wrap="square" rtlCol="0">
            <a:spAutoFit/>
          </a:bodyPr>
          <a:lstStyle/>
          <a:p>
            <a:r>
              <a:rPr lang="en-US" dirty="0">
                <a:solidFill>
                  <a:schemeClr val="bg1"/>
                </a:solidFill>
              </a:rPr>
              <a:t>The Index() method filters the database to display only claims with the "</a:t>
            </a:r>
            <a:r>
              <a:rPr lang="en-US" dirty="0" err="1">
                <a:solidFill>
                  <a:schemeClr val="bg1"/>
                </a:solidFill>
              </a:rPr>
              <a:t>ApprovedByProgrammeCoordinator</a:t>
            </a:r>
            <a:r>
              <a:rPr lang="en-US" dirty="0">
                <a:solidFill>
                  <a:schemeClr val="bg1"/>
                </a:solidFill>
              </a:rPr>
              <a:t>" status, including user information for display reasons, and shows all claims that have been approved by </a:t>
            </a:r>
            <a:r>
              <a:rPr lang="en-US" dirty="0" err="1">
                <a:solidFill>
                  <a:schemeClr val="bg1"/>
                </a:solidFill>
              </a:rPr>
              <a:t>Programme</a:t>
            </a:r>
            <a:r>
              <a:rPr lang="en-US" dirty="0">
                <a:solidFill>
                  <a:schemeClr val="bg1"/>
                </a:solidFill>
              </a:rPr>
              <a:t> Coordinators and are pending final Academic Manager evaluation.</a:t>
            </a:r>
            <a:endParaRPr lang="en-ZA" dirty="0">
              <a:solidFill>
                <a:schemeClr val="bg1"/>
              </a:solidFill>
            </a:endParaRPr>
          </a:p>
        </p:txBody>
      </p:sp>
      <p:sp>
        <p:nvSpPr>
          <p:cNvPr id="11" name="TextBox 10">
            <a:extLst>
              <a:ext uri="{FF2B5EF4-FFF2-40B4-BE49-F238E27FC236}">
                <a16:creationId xmlns:a16="http://schemas.microsoft.com/office/drawing/2014/main" id="{08D02977-E666-CCF4-BCB5-0C428AD57012}"/>
              </a:ext>
            </a:extLst>
          </p:cNvPr>
          <p:cNvSpPr txBox="1"/>
          <p:nvPr/>
        </p:nvSpPr>
        <p:spPr>
          <a:xfrm>
            <a:off x="6096000" y="3805084"/>
            <a:ext cx="5440680" cy="1477328"/>
          </a:xfrm>
          <a:prstGeom prst="rect">
            <a:avLst/>
          </a:prstGeom>
          <a:noFill/>
        </p:spPr>
        <p:txBody>
          <a:bodyPr wrap="square" rtlCol="0">
            <a:spAutoFit/>
          </a:bodyPr>
          <a:lstStyle/>
          <a:p>
            <a:r>
              <a:rPr lang="en-US" dirty="0">
                <a:solidFill>
                  <a:schemeClr val="bg1"/>
                </a:solidFill>
              </a:rPr>
              <a:t>In order to ensure appropriate documentation for the reasons a claim was rejected during the final approval stage, the </a:t>
            </a:r>
            <a:r>
              <a:rPr lang="en-US" dirty="0" err="1">
                <a:solidFill>
                  <a:schemeClr val="bg1"/>
                </a:solidFill>
              </a:rPr>
              <a:t>RejectClaim</a:t>
            </a:r>
            <a:r>
              <a:rPr lang="en-US" dirty="0">
                <a:solidFill>
                  <a:schemeClr val="bg1"/>
                </a:solidFill>
              </a:rPr>
              <a:t>() function updates the claim status to "Rejected" and stores the given rejection reason in the database.</a:t>
            </a:r>
            <a:endParaRPr lang="en-ZA" dirty="0">
              <a:solidFill>
                <a:schemeClr val="bg1"/>
              </a:solidFill>
            </a:endParaRPr>
          </a:p>
        </p:txBody>
      </p:sp>
    </p:spTree>
    <p:extLst>
      <p:ext uri="{BB962C8B-B14F-4D97-AF65-F5344CB8AC3E}">
        <p14:creationId xmlns:p14="http://schemas.microsoft.com/office/powerpoint/2010/main" val="4036360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0B07383B-6310-56A6-B051-F4B962E11786}"/>
              </a:ext>
            </a:extLst>
          </p:cNvPr>
          <p:cNvSpPr>
            <a:spLocks noGrp="1"/>
          </p:cNvSpPr>
          <p:nvPr>
            <p:ph type="title"/>
          </p:nvPr>
        </p:nvSpPr>
        <p:spPr/>
        <p:txBody>
          <a:bodyPr/>
          <a:lstStyle/>
          <a:p>
            <a:r>
              <a:rPr lang="en-US" dirty="0"/>
              <a:t>UI DESIGN</a:t>
            </a:r>
          </a:p>
        </p:txBody>
      </p:sp>
      <p:sp>
        <p:nvSpPr>
          <p:cNvPr id="4" name="Text Placeholder 3">
            <a:extLst>
              <a:ext uri="{FF2B5EF4-FFF2-40B4-BE49-F238E27FC236}">
                <a16:creationId xmlns:a16="http://schemas.microsoft.com/office/drawing/2014/main" id="{55DA2D8B-92F5-22B2-084C-934BCBC00DFD}"/>
              </a:ext>
            </a:extLst>
          </p:cNvPr>
          <p:cNvSpPr>
            <a:spLocks noGrp="1"/>
          </p:cNvSpPr>
          <p:nvPr>
            <p:ph type="body" sz="quarter" idx="12"/>
          </p:nvPr>
        </p:nvSpPr>
        <p:spPr/>
        <p:txBody>
          <a:bodyPr/>
          <a:lstStyle/>
          <a:p>
            <a:r>
              <a:rPr lang="en-US" dirty="0"/>
              <a:t>Simplicity</a:t>
            </a:r>
          </a:p>
        </p:txBody>
      </p:sp>
      <p:sp>
        <p:nvSpPr>
          <p:cNvPr id="5" name="Text Placeholder 4">
            <a:extLst>
              <a:ext uri="{FF2B5EF4-FFF2-40B4-BE49-F238E27FC236}">
                <a16:creationId xmlns:a16="http://schemas.microsoft.com/office/drawing/2014/main" id="{8B004B5D-BB88-E446-FDC1-8BE748EFE8B6}"/>
              </a:ext>
            </a:extLst>
          </p:cNvPr>
          <p:cNvSpPr>
            <a:spLocks noGrp="1"/>
          </p:cNvSpPr>
          <p:nvPr>
            <p:ph type="body" sz="quarter" idx="13"/>
          </p:nvPr>
        </p:nvSpPr>
        <p:spPr/>
        <p:txBody>
          <a:bodyPr/>
          <a:lstStyle/>
          <a:p>
            <a:r>
              <a:rPr lang="en-US" dirty="0"/>
              <a:t>The overall flow of the web app is smooth making it difficult for users to get lost or confused</a:t>
            </a:r>
          </a:p>
        </p:txBody>
      </p:sp>
      <p:sp>
        <p:nvSpPr>
          <p:cNvPr id="6" name="Text Placeholder 5">
            <a:extLst>
              <a:ext uri="{FF2B5EF4-FFF2-40B4-BE49-F238E27FC236}">
                <a16:creationId xmlns:a16="http://schemas.microsoft.com/office/drawing/2014/main" id="{98AC0C5B-16A7-E317-7222-BF9FA26C0DC6}"/>
              </a:ext>
            </a:extLst>
          </p:cNvPr>
          <p:cNvSpPr>
            <a:spLocks noGrp="1"/>
          </p:cNvSpPr>
          <p:nvPr>
            <p:ph type="body" sz="quarter" idx="14"/>
          </p:nvPr>
        </p:nvSpPr>
        <p:spPr/>
        <p:txBody>
          <a:bodyPr/>
          <a:lstStyle/>
          <a:p>
            <a:r>
              <a:rPr lang="en-US" dirty="0"/>
              <a:t>Colours</a:t>
            </a:r>
          </a:p>
        </p:txBody>
      </p:sp>
      <p:sp>
        <p:nvSpPr>
          <p:cNvPr id="7" name="Text Placeholder 6">
            <a:extLst>
              <a:ext uri="{FF2B5EF4-FFF2-40B4-BE49-F238E27FC236}">
                <a16:creationId xmlns:a16="http://schemas.microsoft.com/office/drawing/2014/main" id="{77D9B67F-AD02-4BA5-209B-C91070303A72}"/>
              </a:ext>
            </a:extLst>
          </p:cNvPr>
          <p:cNvSpPr>
            <a:spLocks noGrp="1"/>
          </p:cNvSpPr>
          <p:nvPr>
            <p:ph type="body" sz="quarter" idx="15"/>
          </p:nvPr>
        </p:nvSpPr>
        <p:spPr>
          <a:xfrm>
            <a:off x="2891790" y="3236975"/>
            <a:ext cx="2155698" cy="2426405"/>
          </a:xfrm>
        </p:spPr>
        <p:txBody>
          <a:bodyPr/>
          <a:lstStyle/>
          <a:p>
            <a:r>
              <a:rPr lang="en-US" dirty="0"/>
              <a:t>Matching different buttons, messages, tests with its own distinctive colour creates an environment where the user already knows what's happening before even reading</a:t>
            </a:r>
          </a:p>
        </p:txBody>
      </p:sp>
      <p:sp>
        <p:nvSpPr>
          <p:cNvPr id="8" name="Text Placeholder 7">
            <a:extLst>
              <a:ext uri="{FF2B5EF4-FFF2-40B4-BE49-F238E27FC236}">
                <a16:creationId xmlns:a16="http://schemas.microsoft.com/office/drawing/2014/main" id="{6269FBD2-F371-6F7E-1D42-95EFADFA10DD}"/>
              </a:ext>
            </a:extLst>
          </p:cNvPr>
          <p:cNvSpPr>
            <a:spLocks noGrp="1"/>
          </p:cNvSpPr>
          <p:nvPr>
            <p:ph type="body" sz="quarter" idx="16"/>
          </p:nvPr>
        </p:nvSpPr>
        <p:spPr/>
        <p:txBody>
          <a:bodyPr/>
          <a:lstStyle/>
          <a:p>
            <a:r>
              <a:rPr lang="en-US" dirty="0"/>
              <a:t>Icons</a:t>
            </a:r>
          </a:p>
        </p:txBody>
      </p:sp>
      <p:sp>
        <p:nvSpPr>
          <p:cNvPr id="9" name="Text Placeholder 8">
            <a:extLst>
              <a:ext uri="{FF2B5EF4-FFF2-40B4-BE49-F238E27FC236}">
                <a16:creationId xmlns:a16="http://schemas.microsoft.com/office/drawing/2014/main" id="{F039B280-D4F1-D5B7-9D62-C1DA10C605C9}"/>
              </a:ext>
            </a:extLst>
          </p:cNvPr>
          <p:cNvSpPr>
            <a:spLocks noGrp="1"/>
          </p:cNvSpPr>
          <p:nvPr>
            <p:ph type="body" sz="quarter" idx="17"/>
          </p:nvPr>
        </p:nvSpPr>
        <p:spPr>
          <a:xfrm>
            <a:off x="5052060" y="3236976"/>
            <a:ext cx="2093976" cy="2426404"/>
          </a:xfrm>
        </p:spPr>
        <p:txBody>
          <a:bodyPr/>
          <a:lstStyle/>
          <a:p>
            <a:r>
              <a:rPr lang="en-US" dirty="0"/>
              <a:t>Majority of the icons used appear in the actions column in most tables. This creates space as now there would be no need to type out the actions. E.g. an eye icon instead of displaying “View”</a:t>
            </a:r>
          </a:p>
        </p:txBody>
      </p:sp>
      <p:sp>
        <p:nvSpPr>
          <p:cNvPr id="10" name="Text Placeholder 9">
            <a:extLst>
              <a:ext uri="{FF2B5EF4-FFF2-40B4-BE49-F238E27FC236}">
                <a16:creationId xmlns:a16="http://schemas.microsoft.com/office/drawing/2014/main" id="{6A9C835B-EE7B-2801-6842-7044F690144A}"/>
              </a:ext>
            </a:extLst>
          </p:cNvPr>
          <p:cNvSpPr>
            <a:spLocks noGrp="1"/>
          </p:cNvSpPr>
          <p:nvPr>
            <p:ph type="body" sz="quarter" idx="18"/>
          </p:nvPr>
        </p:nvSpPr>
        <p:spPr/>
        <p:txBody>
          <a:bodyPr/>
          <a:lstStyle/>
          <a:p>
            <a:r>
              <a:rPr lang="en-US" dirty="0"/>
              <a:t>Backgrounds</a:t>
            </a:r>
          </a:p>
        </p:txBody>
      </p:sp>
      <p:sp>
        <p:nvSpPr>
          <p:cNvPr id="11" name="Text Placeholder 10">
            <a:extLst>
              <a:ext uri="{FF2B5EF4-FFF2-40B4-BE49-F238E27FC236}">
                <a16:creationId xmlns:a16="http://schemas.microsoft.com/office/drawing/2014/main" id="{429544CE-BE3D-F6DD-FADE-D85F729A9BCC}"/>
              </a:ext>
            </a:extLst>
          </p:cNvPr>
          <p:cNvSpPr>
            <a:spLocks noGrp="1"/>
          </p:cNvSpPr>
          <p:nvPr>
            <p:ph type="body" sz="quarter" idx="19"/>
          </p:nvPr>
        </p:nvSpPr>
        <p:spPr>
          <a:xfrm>
            <a:off x="7212330" y="3236976"/>
            <a:ext cx="2093976" cy="1629992"/>
          </a:xfrm>
        </p:spPr>
        <p:txBody>
          <a:bodyPr/>
          <a:lstStyle/>
          <a:p>
            <a:r>
              <a:rPr lang="en-US" dirty="0"/>
              <a:t>Although the animated backgrounds don’t add much functional value they definitely add value visually</a:t>
            </a:r>
          </a:p>
        </p:txBody>
      </p:sp>
      <p:sp>
        <p:nvSpPr>
          <p:cNvPr id="81" name="Text Placeholder 80">
            <a:extLst>
              <a:ext uri="{FF2B5EF4-FFF2-40B4-BE49-F238E27FC236}">
                <a16:creationId xmlns:a16="http://schemas.microsoft.com/office/drawing/2014/main" id="{2AF0BD8F-E098-8282-AE8C-8BFAB5EBBFC2}"/>
              </a:ext>
            </a:extLst>
          </p:cNvPr>
          <p:cNvSpPr>
            <a:spLocks noGrp="1"/>
          </p:cNvSpPr>
          <p:nvPr>
            <p:ph type="body" sz="quarter" idx="20"/>
          </p:nvPr>
        </p:nvSpPr>
        <p:spPr/>
        <p:txBody>
          <a:bodyPr/>
          <a:lstStyle/>
          <a:p>
            <a:r>
              <a:rPr lang="en-US" sz="2400" b="1" dirty="0" err="1">
                <a:solidFill>
                  <a:schemeClr val="accent3">
                    <a:lumMod val="25000"/>
                  </a:schemeClr>
                </a:solidFill>
                <a:latin typeface="Tw Cen MT" panose="020B0602020104020603" pitchFamily="34" charset="77"/>
                <a:ea typeface="Source Sans Pro" panose="020B0503030403020204" pitchFamily="34" charset="0"/>
              </a:rPr>
              <a:t>Animatation</a:t>
            </a:r>
            <a:endParaRPr lang="en-US" dirty="0"/>
          </a:p>
        </p:txBody>
      </p:sp>
      <p:sp>
        <p:nvSpPr>
          <p:cNvPr id="2" name="Text Placeholder 1">
            <a:extLst>
              <a:ext uri="{FF2B5EF4-FFF2-40B4-BE49-F238E27FC236}">
                <a16:creationId xmlns:a16="http://schemas.microsoft.com/office/drawing/2014/main" id="{D733E31E-F298-485B-42BF-303CC635241F}"/>
              </a:ext>
            </a:extLst>
          </p:cNvPr>
          <p:cNvSpPr>
            <a:spLocks noGrp="1"/>
          </p:cNvSpPr>
          <p:nvPr>
            <p:ph type="body" sz="quarter" idx="21"/>
          </p:nvPr>
        </p:nvSpPr>
        <p:spPr/>
        <p:txBody>
          <a:bodyPr/>
          <a:lstStyle/>
          <a:p>
            <a:r>
              <a:rPr lang="en-US" dirty="0"/>
              <a:t>Animated buttons and notifications Help make the web app feel less generic and plain which is definitely noticed by the user</a:t>
            </a:r>
          </a:p>
        </p:txBody>
      </p:sp>
    </p:spTree>
    <p:extLst>
      <p:ext uri="{BB962C8B-B14F-4D97-AF65-F5344CB8AC3E}">
        <p14:creationId xmlns:p14="http://schemas.microsoft.com/office/powerpoint/2010/main" val="1430138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29EF4-0B1F-2600-AFDE-EA810EE6314D}"/>
              </a:ext>
            </a:extLst>
          </p:cNvPr>
          <p:cNvSpPr>
            <a:spLocks noGrp="1"/>
          </p:cNvSpPr>
          <p:nvPr>
            <p:ph type="title"/>
          </p:nvPr>
        </p:nvSpPr>
        <p:spPr>
          <a:xfrm>
            <a:off x="162528" y="1679252"/>
            <a:ext cx="4718304" cy="1069848"/>
          </a:xfrm>
        </p:spPr>
        <p:txBody>
          <a:bodyPr/>
          <a:lstStyle/>
          <a:p>
            <a:r>
              <a:rPr lang="en-ZA" dirty="0"/>
              <a:t>Database Schema &amp; Data Flow Code 1/2</a:t>
            </a:r>
          </a:p>
        </p:txBody>
      </p:sp>
      <p:sp>
        <p:nvSpPr>
          <p:cNvPr id="3" name="Text Placeholder 2">
            <a:extLst>
              <a:ext uri="{FF2B5EF4-FFF2-40B4-BE49-F238E27FC236}">
                <a16:creationId xmlns:a16="http://schemas.microsoft.com/office/drawing/2014/main" id="{60C1EEB3-277E-6ADE-706A-DA8099030EE4}"/>
              </a:ext>
            </a:extLst>
          </p:cNvPr>
          <p:cNvSpPr>
            <a:spLocks noGrp="1"/>
          </p:cNvSpPr>
          <p:nvPr>
            <p:ph type="body" idx="1"/>
          </p:nvPr>
        </p:nvSpPr>
        <p:spPr>
          <a:xfrm>
            <a:off x="6469232" y="868828"/>
            <a:ext cx="4709160" cy="2395728"/>
          </a:xfrm>
        </p:spPr>
        <p:txBody>
          <a:bodyPr/>
          <a:lstStyle/>
          <a:p>
            <a:pPr marL="285750" indent="-285750">
              <a:buFont typeface="Arial" panose="020B0604020202020204" pitchFamily="34" charset="0"/>
              <a:buChar char="•"/>
            </a:pPr>
            <a:r>
              <a:rPr lang="en-US" sz="1800" b="1" dirty="0"/>
              <a:t>Goal: </a:t>
            </a:r>
            <a:r>
              <a:rPr lang="en-US" sz="1800" dirty="0"/>
              <a:t>Using Entity Framework Core Constructor, this class acts as the primary link between your application and the database.  </a:t>
            </a:r>
          </a:p>
          <a:p>
            <a:pPr marL="285750" indent="-285750">
              <a:buFont typeface="Arial" panose="020B0604020202020204" pitchFamily="34" charset="0"/>
              <a:buChar char="•"/>
            </a:pPr>
            <a:r>
              <a:rPr lang="en-ZA" sz="1800" b="1" dirty="0"/>
              <a:t>Constructor</a:t>
            </a:r>
            <a:r>
              <a:rPr lang="en-ZA" sz="1800" dirty="0"/>
              <a:t>:</a:t>
            </a:r>
            <a:r>
              <a:rPr lang="en-US" sz="1800" dirty="0"/>
              <a:t>takes </a:t>
            </a:r>
            <a:r>
              <a:rPr lang="en-US" sz="1800" dirty="0" err="1"/>
              <a:t>DbContextOptions</a:t>
            </a:r>
            <a:r>
              <a:rPr lang="en-US" sz="1800" dirty="0"/>
              <a:t> for configuration (connection strings, database provider) and inherits from </a:t>
            </a:r>
            <a:r>
              <a:rPr lang="en-US" sz="1800" dirty="0" err="1"/>
              <a:t>DbContext</a:t>
            </a:r>
            <a:r>
              <a:rPr lang="en-US" sz="1800" dirty="0"/>
              <a:t>.</a:t>
            </a:r>
            <a:endParaRPr lang="en-ZA" sz="1800" dirty="0"/>
          </a:p>
        </p:txBody>
      </p:sp>
      <p:sp>
        <p:nvSpPr>
          <p:cNvPr id="4" name="TextBox 3">
            <a:extLst>
              <a:ext uri="{FF2B5EF4-FFF2-40B4-BE49-F238E27FC236}">
                <a16:creationId xmlns:a16="http://schemas.microsoft.com/office/drawing/2014/main" id="{1362898B-8B18-DBDC-082A-894F8C5AD260}"/>
              </a:ext>
            </a:extLst>
          </p:cNvPr>
          <p:cNvSpPr txBox="1"/>
          <p:nvPr/>
        </p:nvSpPr>
        <p:spPr>
          <a:xfrm>
            <a:off x="6622026" y="3687097"/>
            <a:ext cx="4895579" cy="1477328"/>
          </a:xfrm>
          <a:prstGeom prst="rect">
            <a:avLst/>
          </a:prstGeom>
          <a:noFill/>
        </p:spPr>
        <p:txBody>
          <a:bodyPr wrap="square" rtlCol="0">
            <a:spAutoFit/>
          </a:bodyPr>
          <a:lstStyle/>
          <a:p>
            <a:pPr marL="285750" indent="-285750">
              <a:buFont typeface="Arial" panose="020B0604020202020204" pitchFamily="34" charset="0"/>
              <a:buChar char="•"/>
            </a:pPr>
            <a:r>
              <a:rPr lang="en-ZA" b="1" dirty="0" err="1">
                <a:solidFill>
                  <a:schemeClr val="bg1"/>
                </a:solidFill>
              </a:rPr>
              <a:t>DbSet</a:t>
            </a:r>
            <a:r>
              <a:rPr lang="en-ZA" b="1" dirty="0">
                <a:solidFill>
                  <a:schemeClr val="bg1"/>
                </a:solidFill>
              </a:rPr>
              <a:t> Properties</a:t>
            </a:r>
            <a:r>
              <a:rPr lang="en-ZA" dirty="0">
                <a:solidFill>
                  <a:schemeClr val="bg1"/>
                </a:solidFill>
              </a:rPr>
              <a:t>:</a:t>
            </a:r>
          </a:p>
          <a:p>
            <a:pPr marL="742950" lvl="1" indent="-285750">
              <a:buFont typeface="Arial" panose="020B0604020202020204" pitchFamily="34" charset="0"/>
              <a:buChar char="•"/>
            </a:pPr>
            <a:r>
              <a:rPr lang="en-ZA" dirty="0">
                <a:solidFill>
                  <a:schemeClr val="bg1"/>
                </a:solidFill>
              </a:rPr>
              <a:t>Users </a:t>
            </a:r>
            <a:r>
              <a:rPr lang="en-US" dirty="0">
                <a:solidFill>
                  <a:schemeClr val="bg1"/>
                </a:solidFill>
              </a:rPr>
              <a:t>represents the Users table in SQL Server</a:t>
            </a:r>
          </a:p>
          <a:p>
            <a:pPr marL="742950" lvl="1" indent="-285750">
              <a:buFont typeface="Arial" panose="020B0604020202020204" pitchFamily="34" charset="0"/>
              <a:buChar char="•"/>
            </a:pPr>
            <a:r>
              <a:rPr lang="en-US" dirty="0">
                <a:solidFill>
                  <a:schemeClr val="bg1"/>
                </a:solidFill>
              </a:rPr>
              <a:t>Claims represents the Users table in SQL Server</a:t>
            </a:r>
            <a:endParaRPr lang="en-ZA" dirty="0">
              <a:solidFill>
                <a:schemeClr val="bg1"/>
              </a:solidFill>
            </a:endParaRPr>
          </a:p>
        </p:txBody>
      </p:sp>
      <p:pic>
        <p:nvPicPr>
          <p:cNvPr id="6" name="Picture 5">
            <a:extLst>
              <a:ext uri="{FF2B5EF4-FFF2-40B4-BE49-F238E27FC236}">
                <a16:creationId xmlns:a16="http://schemas.microsoft.com/office/drawing/2014/main" id="{B2752F52-9B75-E644-DB32-2BFD93663FDD}"/>
              </a:ext>
            </a:extLst>
          </p:cNvPr>
          <p:cNvPicPr>
            <a:picLocks noChangeAspect="1"/>
          </p:cNvPicPr>
          <p:nvPr/>
        </p:nvPicPr>
        <p:blipFill>
          <a:blip r:embed="rId2"/>
          <a:stretch>
            <a:fillRect/>
          </a:stretch>
        </p:blipFill>
        <p:spPr>
          <a:xfrm>
            <a:off x="162528" y="3392211"/>
            <a:ext cx="5591955" cy="1838582"/>
          </a:xfrm>
          <a:prstGeom prst="rect">
            <a:avLst/>
          </a:prstGeom>
        </p:spPr>
      </p:pic>
      <p:cxnSp>
        <p:nvCxnSpPr>
          <p:cNvPr id="8" name="Connector: Elbow 7">
            <a:extLst>
              <a:ext uri="{FF2B5EF4-FFF2-40B4-BE49-F238E27FC236}">
                <a16:creationId xmlns:a16="http://schemas.microsoft.com/office/drawing/2014/main" id="{A354E348-2EC1-47F7-4EE4-E82758B4DC2A}"/>
              </a:ext>
            </a:extLst>
          </p:cNvPr>
          <p:cNvCxnSpPr>
            <a:endCxn id="3" idx="1"/>
          </p:cNvCxnSpPr>
          <p:nvPr/>
        </p:nvCxnSpPr>
        <p:spPr>
          <a:xfrm rot="5400000" flipH="1" flipV="1">
            <a:off x="5219192" y="2142172"/>
            <a:ext cx="1325519" cy="11745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2890B95-7849-2B38-864F-96E33E91F9B3}"/>
              </a:ext>
            </a:extLst>
          </p:cNvPr>
          <p:cNvCxnSpPr/>
          <p:nvPr/>
        </p:nvCxnSpPr>
        <p:spPr>
          <a:xfrm>
            <a:off x="5754483" y="4129548"/>
            <a:ext cx="8675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3458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CBE48-FE2B-EF87-48FB-6E2FA8CC9BC8}"/>
              </a:ext>
            </a:extLst>
          </p:cNvPr>
          <p:cNvSpPr>
            <a:spLocks noGrp="1"/>
          </p:cNvSpPr>
          <p:nvPr>
            <p:ph type="title"/>
          </p:nvPr>
        </p:nvSpPr>
        <p:spPr>
          <a:xfrm>
            <a:off x="162527" y="1649754"/>
            <a:ext cx="4718304" cy="1069848"/>
          </a:xfrm>
        </p:spPr>
        <p:txBody>
          <a:bodyPr/>
          <a:lstStyle/>
          <a:p>
            <a:r>
              <a:rPr lang="en-ZA" dirty="0"/>
              <a:t>Database Schema &amp; Data Flow Code 2/2</a:t>
            </a:r>
          </a:p>
        </p:txBody>
      </p:sp>
      <p:sp>
        <p:nvSpPr>
          <p:cNvPr id="3" name="Text Placeholder 2">
            <a:extLst>
              <a:ext uri="{FF2B5EF4-FFF2-40B4-BE49-F238E27FC236}">
                <a16:creationId xmlns:a16="http://schemas.microsoft.com/office/drawing/2014/main" id="{137FC4F3-5E0D-2DD5-CBAA-9460C0027FE0}"/>
              </a:ext>
            </a:extLst>
          </p:cNvPr>
          <p:cNvSpPr>
            <a:spLocks noGrp="1"/>
          </p:cNvSpPr>
          <p:nvPr>
            <p:ph type="body" idx="1"/>
          </p:nvPr>
        </p:nvSpPr>
        <p:spPr/>
        <p:txBody>
          <a:bodyPr/>
          <a:lstStyle/>
          <a:p>
            <a:r>
              <a:rPr lang="en-ZA" sz="1800" dirty="0"/>
              <a:t>Claims table Breakdown:</a:t>
            </a:r>
          </a:p>
          <a:p>
            <a:pPr marL="285750" indent="-285750">
              <a:buFont typeface="Arial" panose="020B0604020202020204" pitchFamily="34" charset="0"/>
              <a:buChar char="•"/>
            </a:pPr>
            <a:r>
              <a:rPr lang="en-ZA" sz="1800" dirty="0" err="1"/>
              <a:t>ClaimID</a:t>
            </a:r>
            <a:r>
              <a:rPr lang="en-ZA" sz="1800" dirty="0"/>
              <a:t>- Primary Key, Auto Increments</a:t>
            </a:r>
          </a:p>
          <a:p>
            <a:pPr marL="285750" indent="-285750">
              <a:buFont typeface="Arial" panose="020B0604020202020204" pitchFamily="34" charset="0"/>
              <a:buChar char="•"/>
            </a:pPr>
            <a:r>
              <a:rPr lang="en-ZA" sz="1800" dirty="0" err="1"/>
              <a:t>UserID</a:t>
            </a:r>
            <a:r>
              <a:rPr lang="en-ZA" sz="1800" dirty="0"/>
              <a:t> – Foreign Key, Creates Relationship To User table</a:t>
            </a:r>
          </a:p>
          <a:p>
            <a:pPr marL="285750" indent="-285750">
              <a:buFont typeface="Arial" panose="020B0604020202020204" pitchFamily="34" charset="0"/>
              <a:buChar char="•"/>
            </a:pPr>
            <a:r>
              <a:rPr lang="en-ZA" sz="1800" dirty="0" err="1"/>
              <a:t>HoursWorked</a:t>
            </a:r>
            <a:r>
              <a:rPr lang="en-ZA" sz="1800" dirty="0"/>
              <a:t> – Decimal for less than an hour</a:t>
            </a:r>
          </a:p>
          <a:p>
            <a:pPr marL="285750" indent="-285750">
              <a:buFont typeface="Arial" panose="020B0604020202020204" pitchFamily="34" charset="0"/>
              <a:buChar char="•"/>
            </a:pPr>
            <a:r>
              <a:rPr lang="en-ZA" sz="1800" dirty="0"/>
              <a:t>Amount - Decimal for monetary values</a:t>
            </a:r>
          </a:p>
          <a:p>
            <a:pPr marL="285750" indent="-285750">
              <a:buFont typeface="Arial" panose="020B0604020202020204" pitchFamily="34" charset="0"/>
              <a:buChar char="•"/>
            </a:pPr>
            <a:r>
              <a:rPr lang="en-ZA" sz="1800" dirty="0"/>
              <a:t>Status - </a:t>
            </a:r>
            <a:r>
              <a:rPr lang="en-US" sz="1800" dirty="0"/>
              <a:t>ensures new claims start as "Submitted"</a:t>
            </a:r>
            <a:endParaRPr lang="en-ZA" sz="1800" dirty="0"/>
          </a:p>
        </p:txBody>
      </p:sp>
      <p:pic>
        <p:nvPicPr>
          <p:cNvPr id="5" name="Picture 4">
            <a:extLst>
              <a:ext uri="{FF2B5EF4-FFF2-40B4-BE49-F238E27FC236}">
                <a16:creationId xmlns:a16="http://schemas.microsoft.com/office/drawing/2014/main" id="{A751A768-3EC8-8313-1292-B08203C91C6A}"/>
              </a:ext>
            </a:extLst>
          </p:cNvPr>
          <p:cNvPicPr>
            <a:picLocks noChangeAspect="1"/>
          </p:cNvPicPr>
          <p:nvPr/>
        </p:nvPicPr>
        <p:blipFill>
          <a:blip r:embed="rId2"/>
          <a:stretch>
            <a:fillRect/>
          </a:stretch>
        </p:blipFill>
        <p:spPr>
          <a:xfrm>
            <a:off x="216211" y="2922536"/>
            <a:ext cx="5068007" cy="3667637"/>
          </a:xfrm>
          <a:prstGeom prst="rect">
            <a:avLst/>
          </a:prstGeom>
        </p:spPr>
      </p:pic>
    </p:spTree>
    <p:extLst>
      <p:ext uri="{BB962C8B-B14F-4D97-AF65-F5344CB8AC3E}">
        <p14:creationId xmlns:p14="http://schemas.microsoft.com/office/powerpoint/2010/main" val="683659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92BE2-DF00-7046-07B5-0E8DD0C2AD08}"/>
              </a:ext>
            </a:extLst>
          </p:cNvPr>
          <p:cNvSpPr>
            <a:spLocks noGrp="1"/>
          </p:cNvSpPr>
          <p:nvPr>
            <p:ph type="title"/>
          </p:nvPr>
        </p:nvSpPr>
        <p:spPr>
          <a:xfrm>
            <a:off x="0" y="-265471"/>
            <a:ext cx="4718304" cy="1069848"/>
          </a:xfrm>
        </p:spPr>
        <p:txBody>
          <a:bodyPr/>
          <a:lstStyle/>
          <a:p>
            <a:r>
              <a:rPr lang="en-ZA" dirty="0"/>
              <a:t>File Upload</a:t>
            </a:r>
          </a:p>
        </p:txBody>
      </p:sp>
      <p:sp>
        <p:nvSpPr>
          <p:cNvPr id="3" name="Text Placeholder 2">
            <a:extLst>
              <a:ext uri="{FF2B5EF4-FFF2-40B4-BE49-F238E27FC236}">
                <a16:creationId xmlns:a16="http://schemas.microsoft.com/office/drawing/2014/main" id="{3EA11365-5E4E-4FE3-6397-0E29C66C7D23}"/>
              </a:ext>
            </a:extLst>
          </p:cNvPr>
          <p:cNvSpPr>
            <a:spLocks noGrp="1"/>
          </p:cNvSpPr>
          <p:nvPr>
            <p:ph type="body" idx="1"/>
          </p:nvPr>
        </p:nvSpPr>
        <p:spPr>
          <a:xfrm>
            <a:off x="171672" y="1072542"/>
            <a:ext cx="5334744" cy="4354864"/>
          </a:xfrm>
        </p:spPr>
        <p:txBody>
          <a:bodyPr/>
          <a:lstStyle/>
          <a:p>
            <a:r>
              <a:rPr lang="en-ZA" sz="2000" b="1" dirty="0"/>
              <a:t>File upload main Details:</a:t>
            </a:r>
          </a:p>
          <a:p>
            <a:r>
              <a:rPr lang="en-ZA" sz="1800" b="1" dirty="0"/>
              <a:t>File Validation </a:t>
            </a:r>
            <a:r>
              <a:rPr lang="en-ZA" sz="1800" dirty="0"/>
              <a:t>- </a:t>
            </a:r>
            <a:r>
              <a:rPr lang="en-US" sz="1800" dirty="0"/>
              <a:t>Only authorized file types such as PDFs, Word documents, and images are accepted; potentially hazardous formats are blocked by a whitelist system.</a:t>
            </a:r>
          </a:p>
          <a:p>
            <a:r>
              <a:rPr lang="en-US" sz="1800" b="1" dirty="0"/>
              <a:t>Size Control - </a:t>
            </a:r>
            <a:r>
              <a:rPr lang="en-US" sz="1800" dirty="0"/>
              <a:t>While preserving the best possible system performance and upload rates, a stringent 5MB file size limit safeguards server resources.</a:t>
            </a:r>
          </a:p>
          <a:p>
            <a:r>
              <a:rPr lang="en-US" sz="1800" b="1" dirty="0"/>
              <a:t>Organized Tracking - </a:t>
            </a:r>
            <a:r>
              <a:rPr lang="en-US" sz="1800" dirty="0"/>
              <a:t>To ensure systematic document retrieval and easy user reference, we save both original filenames and secure file paths.</a:t>
            </a:r>
            <a:endParaRPr lang="en-ZA" sz="1800" dirty="0"/>
          </a:p>
        </p:txBody>
      </p:sp>
      <p:pic>
        <p:nvPicPr>
          <p:cNvPr id="5" name="Picture 4">
            <a:extLst>
              <a:ext uri="{FF2B5EF4-FFF2-40B4-BE49-F238E27FC236}">
                <a16:creationId xmlns:a16="http://schemas.microsoft.com/office/drawing/2014/main" id="{DF1B0DB5-FC38-897B-0E67-FF9778D6E45C}"/>
              </a:ext>
            </a:extLst>
          </p:cNvPr>
          <p:cNvPicPr>
            <a:picLocks noChangeAspect="1"/>
          </p:cNvPicPr>
          <p:nvPr/>
        </p:nvPicPr>
        <p:blipFill>
          <a:blip r:embed="rId2"/>
          <a:stretch>
            <a:fillRect/>
          </a:stretch>
        </p:blipFill>
        <p:spPr>
          <a:xfrm>
            <a:off x="5809359" y="-20186"/>
            <a:ext cx="6382641" cy="3896269"/>
          </a:xfrm>
          <a:prstGeom prst="rect">
            <a:avLst/>
          </a:prstGeom>
        </p:spPr>
      </p:pic>
      <p:pic>
        <p:nvPicPr>
          <p:cNvPr id="7" name="Picture 6">
            <a:extLst>
              <a:ext uri="{FF2B5EF4-FFF2-40B4-BE49-F238E27FC236}">
                <a16:creationId xmlns:a16="http://schemas.microsoft.com/office/drawing/2014/main" id="{DC561F9B-7717-80CA-DDF4-528557736D72}"/>
              </a:ext>
            </a:extLst>
          </p:cNvPr>
          <p:cNvPicPr>
            <a:picLocks noChangeAspect="1"/>
          </p:cNvPicPr>
          <p:nvPr/>
        </p:nvPicPr>
        <p:blipFill>
          <a:blip r:embed="rId3"/>
          <a:stretch>
            <a:fillRect/>
          </a:stretch>
        </p:blipFill>
        <p:spPr>
          <a:xfrm>
            <a:off x="5809359" y="3853960"/>
            <a:ext cx="5334744" cy="2819794"/>
          </a:xfrm>
          <a:prstGeom prst="rect">
            <a:avLst/>
          </a:prstGeom>
        </p:spPr>
      </p:pic>
    </p:spTree>
    <p:extLst>
      <p:ext uri="{BB962C8B-B14F-4D97-AF65-F5344CB8AC3E}">
        <p14:creationId xmlns:p14="http://schemas.microsoft.com/office/powerpoint/2010/main" val="4154325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54315-419D-ECF1-B52B-4E538B425093}"/>
              </a:ext>
            </a:extLst>
          </p:cNvPr>
          <p:cNvSpPr>
            <a:spLocks noGrp="1"/>
          </p:cNvSpPr>
          <p:nvPr>
            <p:ph type="title"/>
          </p:nvPr>
        </p:nvSpPr>
        <p:spPr>
          <a:xfrm>
            <a:off x="3375365" y="1690730"/>
            <a:ext cx="5441270" cy="1019702"/>
          </a:xfrm>
        </p:spPr>
        <p:txBody>
          <a:bodyPr/>
          <a:lstStyle/>
          <a:p>
            <a:r>
              <a:rPr lang="en-ZA" dirty="0"/>
              <a:t>Amount Calculations and UX Code 1/2</a:t>
            </a:r>
          </a:p>
        </p:txBody>
      </p:sp>
      <p:sp>
        <p:nvSpPr>
          <p:cNvPr id="3" name="Text Placeholder 2">
            <a:extLst>
              <a:ext uri="{FF2B5EF4-FFF2-40B4-BE49-F238E27FC236}">
                <a16:creationId xmlns:a16="http://schemas.microsoft.com/office/drawing/2014/main" id="{7C38400A-5DF3-9032-BCCA-FADD60AD6419}"/>
              </a:ext>
            </a:extLst>
          </p:cNvPr>
          <p:cNvSpPr>
            <a:spLocks noGrp="1"/>
          </p:cNvSpPr>
          <p:nvPr>
            <p:ph type="body" idx="1"/>
          </p:nvPr>
        </p:nvSpPr>
        <p:spPr/>
        <p:txBody>
          <a:bodyPr/>
          <a:lstStyle/>
          <a:p>
            <a:r>
              <a:rPr lang="en-US" sz="1800" dirty="0"/>
              <a:t>Server-side amount computation is handled via a specialized JSON method that combines the user's stored hourly rate with the number of hours worked.  This server validation keeps the user experience responsive while preventing client-side manipulation.</a:t>
            </a:r>
            <a:endParaRPr lang="en-ZA" sz="1800" dirty="0"/>
          </a:p>
        </p:txBody>
      </p:sp>
      <p:pic>
        <p:nvPicPr>
          <p:cNvPr id="5" name="Picture 4">
            <a:extLst>
              <a:ext uri="{FF2B5EF4-FFF2-40B4-BE49-F238E27FC236}">
                <a16:creationId xmlns:a16="http://schemas.microsoft.com/office/drawing/2014/main" id="{78934FA8-9A12-F438-1829-64118BD1700B}"/>
              </a:ext>
            </a:extLst>
          </p:cNvPr>
          <p:cNvPicPr>
            <a:picLocks noChangeAspect="1"/>
          </p:cNvPicPr>
          <p:nvPr/>
        </p:nvPicPr>
        <p:blipFill>
          <a:blip r:embed="rId2"/>
          <a:stretch>
            <a:fillRect/>
          </a:stretch>
        </p:blipFill>
        <p:spPr>
          <a:xfrm>
            <a:off x="123786" y="3347884"/>
            <a:ext cx="5848726" cy="2395728"/>
          </a:xfrm>
          <a:prstGeom prst="rect">
            <a:avLst/>
          </a:prstGeom>
        </p:spPr>
      </p:pic>
    </p:spTree>
    <p:extLst>
      <p:ext uri="{BB962C8B-B14F-4D97-AF65-F5344CB8AC3E}">
        <p14:creationId xmlns:p14="http://schemas.microsoft.com/office/powerpoint/2010/main" val="741121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A5ECC-B9D0-E89F-B4CE-86C5FC965D4A}"/>
              </a:ext>
            </a:extLst>
          </p:cNvPr>
          <p:cNvSpPr>
            <a:spLocks noGrp="1"/>
          </p:cNvSpPr>
          <p:nvPr>
            <p:ph type="title"/>
          </p:nvPr>
        </p:nvSpPr>
        <p:spPr>
          <a:xfrm>
            <a:off x="5461820" y="1716122"/>
            <a:ext cx="5215128" cy="1034452"/>
          </a:xfrm>
        </p:spPr>
        <p:txBody>
          <a:bodyPr/>
          <a:lstStyle/>
          <a:p>
            <a:r>
              <a:rPr lang="en-ZA" dirty="0"/>
              <a:t>Amount Calculations and UX Code 2/2</a:t>
            </a:r>
          </a:p>
        </p:txBody>
      </p:sp>
      <p:sp>
        <p:nvSpPr>
          <p:cNvPr id="3" name="Text Placeholder 2">
            <a:extLst>
              <a:ext uri="{FF2B5EF4-FFF2-40B4-BE49-F238E27FC236}">
                <a16:creationId xmlns:a16="http://schemas.microsoft.com/office/drawing/2014/main" id="{DFA10BC6-063E-6A40-3F37-7E642BB4CAAE}"/>
              </a:ext>
            </a:extLst>
          </p:cNvPr>
          <p:cNvSpPr>
            <a:spLocks noGrp="1"/>
          </p:cNvSpPr>
          <p:nvPr>
            <p:ph type="body" idx="1"/>
          </p:nvPr>
        </p:nvSpPr>
        <p:spPr>
          <a:xfrm>
            <a:off x="304406" y="2750574"/>
            <a:ext cx="4709160" cy="2395728"/>
          </a:xfrm>
        </p:spPr>
        <p:txBody>
          <a:bodyPr/>
          <a:lstStyle/>
          <a:p>
            <a:r>
              <a:rPr lang="en-ZA" b="1" dirty="0"/>
              <a:t>Dynamic User Interface - </a:t>
            </a:r>
            <a:r>
              <a:rPr lang="en-US" sz="1800" dirty="0"/>
              <a:t>The interface provides real-time visual feedback by dynamically updating estimated quantities and character counts.  In order to avoid duplicate entries, form submission is intelligently prevented during processing.</a:t>
            </a:r>
          </a:p>
          <a:p>
            <a:r>
              <a:rPr lang="en-ZA" b="1" dirty="0"/>
              <a:t>Enhanced User Experience - </a:t>
            </a:r>
            <a:r>
              <a:rPr lang="en-US" sz="1800" dirty="0"/>
              <a:t>A smooth workflow is produced by real-time computations and validation, which lowers errors and speeds up form completion.  Through server-side verification, the system preserves timeliness while guaranteeing data integrity.</a:t>
            </a:r>
            <a:endParaRPr lang="en-ZA" sz="1800" dirty="0"/>
          </a:p>
        </p:txBody>
      </p:sp>
      <p:pic>
        <p:nvPicPr>
          <p:cNvPr id="5" name="Picture 4">
            <a:extLst>
              <a:ext uri="{FF2B5EF4-FFF2-40B4-BE49-F238E27FC236}">
                <a16:creationId xmlns:a16="http://schemas.microsoft.com/office/drawing/2014/main" id="{A74DA1AC-CA2E-BC22-F969-8CDA41A3621E}"/>
              </a:ext>
            </a:extLst>
          </p:cNvPr>
          <p:cNvPicPr>
            <a:picLocks noChangeAspect="1"/>
          </p:cNvPicPr>
          <p:nvPr/>
        </p:nvPicPr>
        <p:blipFill>
          <a:blip r:embed="rId2"/>
          <a:stretch>
            <a:fillRect/>
          </a:stretch>
        </p:blipFill>
        <p:spPr>
          <a:xfrm>
            <a:off x="6096000" y="3185651"/>
            <a:ext cx="4286848" cy="3248478"/>
          </a:xfrm>
          <a:prstGeom prst="rect">
            <a:avLst/>
          </a:prstGeom>
        </p:spPr>
      </p:pic>
    </p:spTree>
    <p:extLst>
      <p:ext uri="{BB962C8B-B14F-4D97-AF65-F5344CB8AC3E}">
        <p14:creationId xmlns:p14="http://schemas.microsoft.com/office/powerpoint/2010/main" val="1271447555"/>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F1F1912-3146-44AF-A389-9E8B77BB368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1203</TotalTime>
  <Words>936</Words>
  <Application>Microsoft Office PowerPoint</Application>
  <PresentationFormat>Widescreen</PresentationFormat>
  <Paragraphs>74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Courier New</vt:lpstr>
      <vt:lpstr>Segoe UI Light</vt:lpstr>
      <vt:lpstr>Tw Cen MT</vt:lpstr>
      <vt:lpstr>Office Theme</vt:lpstr>
      <vt:lpstr>Contract Monthly Claim System (CMCS)</vt:lpstr>
      <vt:lpstr>Project Evolution &amp; Improvements</vt:lpstr>
      <vt:lpstr>System Architecture</vt:lpstr>
      <vt:lpstr>Multi-role Loging</vt:lpstr>
      <vt:lpstr>Lecturer workflow</vt:lpstr>
      <vt:lpstr>Improved Validation and security</vt:lpstr>
      <vt:lpstr>WEALTH IS THE ABILITY TO FULLY EXPERIENCE LIFE. </vt:lpstr>
      <vt:lpstr>Programme Coordinator</vt:lpstr>
      <vt:lpstr>Academic Manager</vt:lpstr>
      <vt:lpstr>UI DESIGN</vt:lpstr>
      <vt:lpstr>Database Schema &amp; Data Flow Code 1/2</vt:lpstr>
      <vt:lpstr>Database Schema &amp; Data Flow Code 2/2</vt:lpstr>
      <vt:lpstr>File Upload</vt:lpstr>
      <vt:lpstr>Amount Calculations and UX Code 1/2</vt:lpstr>
      <vt:lpstr>Amount Calculations and UX Code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Dean Sibley</dc:creator>
  <cp:lastModifiedBy>Dean Sibley</cp:lastModifiedBy>
  <cp:revision>1</cp:revision>
  <dcterms:created xsi:type="dcterms:W3CDTF">2025-11-21T07:47:52Z</dcterms:created>
  <dcterms:modified xsi:type="dcterms:W3CDTF">2025-11-22T03:50:52Z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